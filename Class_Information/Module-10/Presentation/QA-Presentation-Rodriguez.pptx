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79" r:id="rId26"/>
    <p:sldId id="281" r:id="rId27"/>
    <p:sldId id="282" r:id="rId28"/>
    <p:sldId id="283" r:id="rId29"/>
    <p:sldId id="284" r:id="rId30"/>
    <p:sldId id="285" r:id="rId31"/>
    <p:sldId id="286" r:id="rId32"/>
    <p:sldId id="287" r:id="rId33"/>
    <p:sldId id="288"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3B4D"/>
    <a:srgbClr val="0A6E8C"/>
    <a:srgbClr val="E8D9B0"/>
    <a:srgbClr val="F4A261"/>
    <a:srgbClr val="BDCEE1"/>
    <a:srgbClr val="3F71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10"/>
  </p:normalViewPr>
  <p:slideViewPr>
    <p:cSldViewPr snapToGrid="0" snapToObjects="1">
      <p:cViewPr varScale="1">
        <p:scale>
          <a:sx n="126" d="100"/>
          <a:sy n="126" d="100"/>
        </p:scale>
        <p:origin x="18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C25A60-0621-4274-B737-3BF72007E220}" type="doc">
      <dgm:prSet loTypeId="urn:microsoft.com/office/officeart/2024/layout/IconCircleLabelList" loCatId="list" qsTypeId="urn:microsoft.com/office/officeart/2005/8/quickstyle/simple1#2" qsCatId="simple" csTypeId="urn:microsoft.com/office/officeart/2005/8/colors/accent1_2#2" csCatId="accent1" phldr="1"/>
      <dgm:spPr/>
      <dgm:t>
        <a:bodyPr/>
        <a:lstStyle/>
        <a:p>
          <a:endParaRPr lang="en-US"/>
        </a:p>
      </dgm:t>
    </dgm:pt>
    <dgm:pt modelId="{39CFE1A9-39A2-4D3F-AC68-208CAA3BF866}">
      <dgm:prSet/>
      <dgm:spPr/>
      <dgm:t>
        <a:bodyPr/>
        <a:lstStyle/>
        <a:p>
          <a:pPr>
            <a:lnSpc>
              <a:spcPct val="100000"/>
            </a:lnSpc>
            <a:defRPr/>
          </a:pPr>
          <a:r>
            <a:rPr lang="en-US" b="1" dirty="0"/>
            <a:t>Plan</a:t>
          </a:r>
          <a:r>
            <a:rPr lang="en-US" dirty="0"/>
            <a:t>: </a:t>
          </a:r>
        </a:p>
        <a:p>
          <a:pPr>
            <a:lnSpc>
              <a:spcPct val="100000"/>
            </a:lnSpc>
            <a:defRPr/>
          </a:pPr>
          <a:r>
            <a:rPr lang="en-US" dirty="0"/>
            <a:t>Test objectives, steps and expected results </a:t>
          </a:r>
        </a:p>
      </dgm:t>
    </dgm:pt>
    <dgm:pt modelId="{72C32FB8-65DE-4A26-BF48-D0FA39F80CF2}" type="parTrans" cxnId="{F7CF69EF-ADE9-4E74-BA26-21E50E3F8EFE}">
      <dgm:prSet/>
      <dgm:spPr/>
      <dgm:t>
        <a:bodyPr/>
        <a:lstStyle/>
        <a:p>
          <a:endParaRPr lang="en-US"/>
        </a:p>
      </dgm:t>
    </dgm:pt>
    <dgm:pt modelId="{480EAE0A-4BAA-4CE8-BC1D-7679627125A2}" type="sibTrans" cxnId="{F7CF69EF-ADE9-4E74-BA26-21E50E3F8EFE}">
      <dgm:prSet/>
      <dgm:spPr/>
      <dgm:t>
        <a:bodyPr/>
        <a:lstStyle/>
        <a:p>
          <a:endParaRPr lang="en-US"/>
        </a:p>
      </dgm:t>
    </dgm:pt>
    <dgm:pt modelId="{5C7E6A9B-ADA0-4186-BCD6-6467CCDCC4F5}">
      <dgm:prSet/>
      <dgm:spPr/>
      <dgm:t>
        <a:bodyPr/>
        <a:lstStyle/>
        <a:p>
          <a:pPr>
            <a:lnSpc>
              <a:spcPct val="100000"/>
            </a:lnSpc>
            <a:defRPr/>
          </a:pPr>
          <a:r>
            <a:rPr lang="en-US" b="1" dirty="0"/>
            <a:t>Developer Test:</a:t>
          </a:r>
        </a:p>
        <a:p>
          <a:pPr>
            <a:lnSpc>
              <a:spcPct val="100000"/>
            </a:lnSpc>
            <a:defRPr/>
          </a:pPr>
          <a:r>
            <a:rPr lang="en-US" b="1" dirty="0"/>
            <a:t> </a:t>
          </a:r>
          <a:r>
            <a:rPr lang="en-US" dirty="0"/>
            <a:t>Initial Pass/Fail testing </a:t>
          </a:r>
        </a:p>
      </dgm:t>
    </dgm:pt>
    <dgm:pt modelId="{3B59C678-BB27-4D35-BEB0-81838A6A3408}" type="parTrans" cxnId="{796C5734-C8FE-4A5A-9E57-2EAA4B631D23}">
      <dgm:prSet/>
      <dgm:spPr/>
      <dgm:t>
        <a:bodyPr/>
        <a:lstStyle/>
        <a:p>
          <a:endParaRPr lang="en-US"/>
        </a:p>
      </dgm:t>
    </dgm:pt>
    <dgm:pt modelId="{15793DEF-0145-49F3-9301-D76D99BFDF08}" type="sibTrans" cxnId="{796C5734-C8FE-4A5A-9E57-2EAA4B631D23}">
      <dgm:prSet/>
      <dgm:spPr/>
      <dgm:t>
        <a:bodyPr/>
        <a:lstStyle/>
        <a:p>
          <a:endParaRPr lang="en-US"/>
        </a:p>
      </dgm:t>
    </dgm:pt>
    <dgm:pt modelId="{E174AC8F-C6C7-4F74-BAF2-0A94194B18C5}">
      <dgm:prSet/>
      <dgm:spPr/>
      <dgm:t>
        <a:bodyPr/>
        <a:lstStyle/>
        <a:p>
          <a:pPr>
            <a:lnSpc>
              <a:spcPct val="100000"/>
            </a:lnSpc>
            <a:defRPr/>
          </a:pPr>
          <a:r>
            <a:rPr lang="en-US" b="1" dirty="0"/>
            <a:t>Peer Test: </a:t>
          </a:r>
        </a:p>
        <a:p>
          <a:pPr>
            <a:lnSpc>
              <a:spcPct val="100000"/>
            </a:lnSpc>
            <a:defRPr/>
          </a:pPr>
          <a:r>
            <a:rPr lang="en-US" dirty="0"/>
            <a:t>Teammate verification</a:t>
          </a:r>
        </a:p>
      </dgm:t>
    </dgm:pt>
    <dgm:pt modelId="{7C2CD9D1-3017-4DA7-8206-5EC29AB7988F}" type="parTrans" cxnId="{6C69BFA7-C8A6-409E-BA68-D1BBF4AFC4D1}">
      <dgm:prSet/>
      <dgm:spPr/>
      <dgm:t>
        <a:bodyPr/>
        <a:lstStyle/>
        <a:p>
          <a:endParaRPr lang="en-US"/>
        </a:p>
      </dgm:t>
    </dgm:pt>
    <dgm:pt modelId="{CE2DF9BE-3662-4BA1-9F78-27599C8BFF26}" type="sibTrans" cxnId="{6C69BFA7-C8A6-409E-BA68-D1BBF4AFC4D1}">
      <dgm:prSet/>
      <dgm:spPr/>
      <dgm:t>
        <a:bodyPr/>
        <a:lstStyle/>
        <a:p>
          <a:endParaRPr lang="en-US"/>
        </a:p>
      </dgm:t>
    </dgm:pt>
    <dgm:pt modelId="{48291EC0-1E54-4B33-8E4D-6CB0F41612ED}">
      <dgm:prSet/>
      <dgm:spPr/>
      <dgm:t>
        <a:bodyPr/>
        <a:lstStyle/>
        <a:p>
          <a:pPr>
            <a:lnSpc>
              <a:spcPct val="100000"/>
            </a:lnSpc>
            <a:defRPr/>
          </a:pPr>
          <a:r>
            <a:rPr lang="en-US" b="1" dirty="0"/>
            <a:t>Evidence: </a:t>
          </a:r>
        </a:p>
        <a:p>
          <a:pPr>
            <a:lnSpc>
              <a:spcPct val="100000"/>
            </a:lnSpc>
            <a:defRPr/>
          </a:pPr>
          <a:r>
            <a:rPr lang="en-US" dirty="0"/>
            <a:t>Screenshots </a:t>
          </a:r>
        </a:p>
      </dgm:t>
    </dgm:pt>
    <dgm:pt modelId="{D51DEF29-CCF0-4ECA-B90D-5682AA2F975A}" type="parTrans" cxnId="{991F196B-98C2-4F25-9344-04BAA5EFC388}">
      <dgm:prSet/>
      <dgm:spPr/>
      <dgm:t>
        <a:bodyPr/>
        <a:lstStyle/>
        <a:p>
          <a:endParaRPr lang="en-US"/>
        </a:p>
      </dgm:t>
    </dgm:pt>
    <dgm:pt modelId="{50E67C96-1243-4CD3-9D06-FF70D7E5B9A5}" type="sibTrans" cxnId="{991F196B-98C2-4F25-9344-04BAA5EFC388}">
      <dgm:prSet/>
      <dgm:spPr/>
      <dgm:t>
        <a:bodyPr/>
        <a:lstStyle/>
        <a:p>
          <a:endParaRPr lang="en-US"/>
        </a:p>
      </dgm:t>
    </dgm:pt>
    <dgm:pt modelId="{53994E64-9CFC-4E00-9120-C5BD988261D5}" type="pres">
      <dgm:prSet presAssocID="{A2C25A60-0621-4274-B737-3BF72007E220}" presName="root" presStyleCnt="0">
        <dgm:presLayoutVars>
          <dgm:dir/>
          <dgm:resizeHandles val="exact"/>
        </dgm:presLayoutVars>
      </dgm:prSet>
      <dgm:spPr/>
    </dgm:pt>
    <dgm:pt modelId="{F2C648DA-FE23-4E09-86E3-257DFF2EA824}" type="pres">
      <dgm:prSet presAssocID="{39CFE1A9-39A2-4D3F-AC68-208CAA3BF866}" presName="compNode" presStyleCnt="0"/>
      <dgm:spPr/>
    </dgm:pt>
    <dgm:pt modelId="{F826796B-C142-48B7-88DF-0C98EB073C8F}" type="pres">
      <dgm:prSet presAssocID="{39CFE1A9-39A2-4D3F-AC68-208CAA3BF866}" presName="iconBgRect" presStyleLbl="node1" presStyleIdx="0" presStyleCnt="4" custLinFactNeighborX="463" custLinFactNeighborY="-463"/>
      <dgm:spPr>
        <a:solidFill>
          <a:srgbClr val="0A6E8C"/>
        </a:solidFill>
        <a:ln>
          <a:solidFill>
            <a:srgbClr val="0A6E8C"/>
          </a:solidFill>
        </a:ln>
      </dgm:spPr>
    </dgm:pt>
    <dgm:pt modelId="{C056F665-97E0-4E37-8DE2-A0CBCB3DD4D4}" type="pres">
      <dgm:prSet presAssocID="{39CFE1A9-39A2-4D3F-AC68-208CAA3BF866}" presName="iconRect" presStyleLbl="solidFgAcc1" presStyleIdx="0" presStyleCnt="4" custLinFactNeighborX="1968" custLinFactNeighborY="-3938"/>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solidFill>
            <a:srgbClr val="0A6E8C"/>
          </a:solidFill>
        </a:ln>
      </dgm:spPr>
      <dgm:extLst>
        <a:ext uri="{E40237B7-FDA0-4F09-8148-C483321AD2D9}">
          <dgm14:cNvPr xmlns:dgm14="http://schemas.microsoft.com/office/drawing/2010/diagram" id="0" name="" descr="Clipboard Mixed with solid fill"/>
        </a:ext>
      </dgm:extLst>
    </dgm:pt>
    <dgm:pt modelId="{01FBC439-7B9D-4A90-83C1-DF6931237B70}" type="pres">
      <dgm:prSet presAssocID="{39CFE1A9-39A2-4D3F-AC68-208CAA3BF866}" presName="spaceRect" presStyleCnt="0"/>
      <dgm:spPr/>
    </dgm:pt>
    <dgm:pt modelId="{329DC621-1E9F-4543-B692-AF4C3BA84E6A}" type="pres">
      <dgm:prSet presAssocID="{39CFE1A9-39A2-4D3F-AC68-208CAA3BF866}" presName="textRect" presStyleLbl="revTx" presStyleIdx="0" presStyleCnt="4" custLinFactNeighborX="-124" custLinFactNeighborY="-26812">
        <dgm:presLayoutVars>
          <dgm:chMax val="1"/>
          <dgm:chPref val="1"/>
        </dgm:presLayoutVars>
      </dgm:prSet>
      <dgm:spPr/>
    </dgm:pt>
    <dgm:pt modelId="{C18194AF-854F-4343-8872-7E5DFC8646C1}" type="pres">
      <dgm:prSet presAssocID="{480EAE0A-4BAA-4CE8-BC1D-7679627125A2}" presName="sibTrans" presStyleCnt="0"/>
      <dgm:spPr/>
    </dgm:pt>
    <dgm:pt modelId="{C61E9895-7A73-4FEF-86F4-B2688A0DF602}" type="pres">
      <dgm:prSet presAssocID="{5C7E6A9B-ADA0-4186-BCD6-6467CCDCC4F5}" presName="compNode" presStyleCnt="0"/>
      <dgm:spPr/>
    </dgm:pt>
    <dgm:pt modelId="{CE0F5DD9-BDF0-4C13-BEAD-15C465957BDF}" type="pres">
      <dgm:prSet presAssocID="{5C7E6A9B-ADA0-4186-BCD6-6467CCDCC4F5}" presName="iconBgRect" presStyleLbl="node1" presStyleIdx="1" presStyleCnt="4"/>
      <dgm:spPr>
        <a:solidFill>
          <a:srgbClr val="0A6E8C"/>
        </a:solidFill>
        <a:ln>
          <a:solidFill>
            <a:srgbClr val="0A6E8C"/>
          </a:solidFill>
        </a:ln>
      </dgm:spPr>
    </dgm:pt>
    <dgm:pt modelId="{477E23DD-29ED-49AB-BF29-C0845CA7D6F9}" type="pres">
      <dgm:prSet presAssocID="{5C7E6A9B-ADA0-4186-BCD6-6467CCDCC4F5}" presName="iconRect" presStyleLbl="solidFgAcc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solidFill>
            <a:srgbClr val="0A6E8C"/>
          </a:solidFill>
        </a:ln>
      </dgm:spPr>
      <dgm:extLst>
        <a:ext uri="{E40237B7-FDA0-4F09-8148-C483321AD2D9}">
          <dgm14:cNvPr xmlns:dgm14="http://schemas.microsoft.com/office/drawing/2010/diagram" id="0" name="" descr="Internet with solid fill"/>
        </a:ext>
      </dgm:extLst>
    </dgm:pt>
    <dgm:pt modelId="{2068C0A2-BD66-463F-8134-84701E99F476}" type="pres">
      <dgm:prSet presAssocID="{5C7E6A9B-ADA0-4186-BCD6-6467CCDCC4F5}" presName="spaceRect" presStyleCnt="0"/>
      <dgm:spPr/>
    </dgm:pt>
    <dgm:pt modelId="{4CDC1E4C-F441-4CF0-95FD-FEB60CDDFACF}" type="pres">
      <dgm:prSet presAssocID="{5C7E6A9B-ADA0-4186-BCD6-6467CCDCC4F5}" presName="textRect" presStyleLbl="revTx" presStyleIdx="1" presStyleCnt="4" custLinFactNeighborX="689" custLinFactNeighborY="-20018">
        <dgm:presLayoutVars>
          <dgm:chMax val="1"/>
          <dgm:chPref val="1"/>
        </dgm:presLayoutVars>
      </dgm:prSet>
      <dgm:spPr/>
    </dgm:pt>
    <dgm:pt modelId="{E9F1D4CB-D1B5-4B8E-A3C1-0FD72E00D873}" type="pres">
      <dgm:prSet presAssocID="{15793DEF-0145-49F3-9301-D76D99BFDF08}" presName="sibTrans" presStyleCnt="0"/>
      <dgm:spPr/>
    </dgm:pt>
    <dgm:pt modelId="{940927BF-F9F2-4F4B-8CBF-2AC1D9FFD227}" type="pres">
      <dgm:prSet presAssocID="{E174AC8F-C6C7-4F74-BAF2-0A94194B18C5}" presName="compNode" presStyleCnt="0"/>
      <dgm:spPr/>
    </dgm:pt>
    <dgm:pt modelId="{290BC029-2289-4DA6-A085-934E24DA91AA}" type="pres">
      <dgm:prSet presAssocID="{E174AC8F-C6C7-4F74-BAF2-0A94194B18C5}" presName="iconBgRect" presStyleLbl="node1" presStyleIdx="2" presStyleCnt="4"/>
      <dgm:spPr>
        <a:solidFill>
          <a:srgbClr val="0A6E8C"/>
        </a:solidFill>
        <a:ln>
          <a:solidFill>
            <a:srgbClr val="0A6E8C"/>
          </a:solidFill>
        </a:ln>
      </dgm:spPr>
    </dgm:pt>
    <dgm:pt modelId="{4A257859-EADF-4224-BD51-A133F156A498}" type="pres">
      <dgm:prSet presAssocID="{E174AC8F-C6C7-4F74-BAF2-0A94194B18C5}" presName="iconRect" presStyleLbl="solidFgAcc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Handshake with solid fill"/>
        </a:ext>
      </dgm:extLst>
    </dgm:pt>
    <dgm:pt modelId="{07FB3F12-3537-45DB-99E5-BBC2BE04ED94}" type="pres">
      <dgm:prSet presAssocID="{E174AC8F-C6C7-4F74-BAF2-0A94194B18C5}" presName="spaceRect" presStyleCnt="0"/>
      <dgm:spPr/>
    </dgm:pt>
    <dgm:pt modelId="{4CDC0D63-0520-4E7E-9FE9-D542D286F9DB}" type="pres">
      <dgm:prSet presAssocID="{E174AC8F-C6C7-4F74-BAF2-0A94194B18C5}" presName="textRect" presStyleLbl="revTx" presStyleIdx="2" presStyleCnt="4" custLinFactNeighborX="1502" custLinFactNeighborY="-20018">
        <dgm:presLayoutVars>
          <dgm:chMax val="1"/>
          <dgm:chPref val="1"/>
        </dgm:presLayoutVars>
      </dgm:prSet>
      <dgm:spPr/>
    </dgm:pt>
    <dgm:pt modelId="{C6F88EE9-332B-4970-ADCD-40FB1A91F8C2}" type="pres">
      <dgm:prSet presAssocID="{CE2DF9BE-3662-4BA1-9F78-27599C8BFF26}" presName="sibTrans" presStyleCnt="0"/>
      <dgm:spPr/>
    </dgm:pt>
    <dgm:pt modelId="{912D382F-FAE8-47A9-B6FE-4A6A5E6A3BDD}" type="pres">
      <dgm:prSet presAssocID="{48291EC0-1E54-4B33-8E4D-6CB0F41612ED}" presName="compNode" presStyleCnt="0"/>
      <dgm:spPr/>
    </dgm:pt>
    <dgm:pt modelId="{83F7C83E-8AF7-49B1-A86A-55B0824FCF9C}" type="pres">
      <dgm:prSet presAssocID="{48291EC0-1E54-4B33-8E4D-6CB0F41612ED}" presName="iconBgRect" presStyleLbl="node1" presStyleIdx="3" presStyleCnt="4"/>
      <dgm:spPr>
        <a:solidFill>
          <a:srgbClr val="0A6E8C"/>
        </a:solidFill>
      </dgm:spPr>
    </dgm:pt>
    <dgm:pt modelId="{9A22D922-B807-4D93-AABE-2351C08985C2}" type="pres">
      <dgm:prSet presAssocID="{48291EC0-1E54-4B33-8E4D-6CB0F41612ED}" presName="iconRect" presStyleLbl="solidFgAcc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atabase with solid fill"/>
        </a:ext>
      </dgm:extLst>
    </dgm:pt>
    <dgm:pt modelId="{42642E41-3EC9-484E-9512-B850AD3A0E50}" type="pres">
      <dgm:prSet presAssocID="{48291EC0-1E54-4B33-8E4D-6CB0F41612ED}" presName="spaceRect" presStyleCnt="0"/>
      <dgm:spPr/>
    </dgm:pt>
    <dgm:pt modelId="{A28CD4C9-7522-43DA-931A-F7AAF093ED94}" type="pres">
      <dgm:prSet presAssocID="{48291EC0-1E54-4B33-8E4D-6CB0F41612ED}" presName="textRect" presStyleLbl="revTx" presStyleIdx="3" presStyleCnt="4" custLinFactNeighborX="124" custLinFactNeighborY="-20635">
        <dgm:presLayoutVars>
          <dgm:chMax val="1"/>
          <dgm:chPref val="1"/>
        </dgm:presLayoutVars>
      </dgm:prSet>
      <dgm:spPr/>
    </dgm:pt>
  </dgm:ptLst>
  <dgm:cxnLst>
    <dgm:cxn modelId="{2A36AB0F-5821-455D-B687-A34E5542167B}" type="presOf" srcId="{39CFE1A9-39A2-4D3F-AC68-208CAA3BF866}" destId="{329DC621-1E9F-4543-B692-AF4C3BA84E6A}" srcOrd="0" destOrd="0" presId="urn:microsoft.com/office/officeart/2024/layout/IconCircleLabelList"/>
    <dgm:cxn modelId="{16A8102A-260D-4D28-A0C8-5AC5F3DF8D2D}" type="presOf" srcId="{48291EC0-1E54-4B33-8E4D-6CB0F41612ED}" destId="{A28CD4C9-7522-43DA-931A-F7AAF093ED94}" srcOrd="0" destOrd="0" presId="urn:microsoft.com/office/officeart/2024/layout/IconCircleLabelList"/>
    <dgm:cxn modelId="{796C5734-C8FE-4A5A-9E57-2EAA4B631D23}" srcId="{A2C25A60-0621-4274-B737-3BF72007E220}" destId="{5C7E6A9B-ADA0-4186-BCD6-6467CCDCC4F5}" srcOrd="1" destOrd="0" parTransId="{3B59C678-BB27-4D35-BEB0-81838A6A3408}" sibTransId="{15793DEF-0145-49F3-9301-D76D99BFDF08}"/>
    <dgm:cxn modelId="{A1E39435-7973-4AEF-8D42-18B4E9ACBA87}" type="presOf" srcId="{E174AC8F-C6C7-4F74-BAF2-0A94194B18C5}" destId="{4CDC0D63-0520-4E7E-9FE9-D542D286F9DB}" srcOrd="0" destOrd="0" presId="urn:microsoft.com/office/officeart/2024/layout/IconCircleLabelList"/>
    <dgm:cxn modelId="{F667A664-4297-4F23-AA26-192DECBBD8D8}" type="presOf" srcId="{5C7E6A9B-ADA0-4186-BCD6-6467CCDCC4F5}" destId="{4CDC1E4C-F441-4CF0-95FD-FEB60CDDFACF}" srcOrd="0" destOrd="0" presId="urn:microsoft.com/office/officeart/2024/layout/IconCircleLabelList"/>
    <dgm:cxn modelId="{991F196B-98C2-4F25-9344-04BAA5EFC388}" srcId="{A2C25A60-0621-4274-B737-3BF72007E220}" destId="{48291EC0-1E54-4B33-8E4D-6CB0F41612ED}" srcOrd="3" destOrd="0" parTransId="{D51DEF29-CCF0-4ECA-B90D-5682AA2F975A}" sibTransId="{50E67C96-1243-4CD3-9D06-FF70D7E5B9A5}"/>
    <dgm:cxn modelId="{6C69BFA7-C8A6-409E-BA68-D1BBF4AFC4D1}" srcId="{A2C25A60-0621-4274-B737-3BF72007E220}" destId="{E174AC8F-C6C7-4F74-BAF2-0A94194B18C5}" srcOrd="2" destOrd="0" parTransId="{7C2CD9D1-3017-4DA7-8206-5EC29AB7988F}" sibTransId="{CE2DF9BE-3662-4BA1-9F78-27599C8BFF26}"/>
    <dgm:cxn modelId="{CBCB4AC0-ECF4-45F0-A718-8C7261237E15}" type="presOf" srcId="{A2C25A60-0621-4274-B737-3BF72007E220}" destId="{53994E64-9CFC-4E00-9120-C5BD988261D5}" srcOrd="0" destOrd="0" presId="urn:microsoft.com/office/officeart/2024/layout/IconCircleLabelList"/>
    <dgm:cxn modelId="{F7CF69EF-ADE9-4E74-BA26-21E50E3F8EFE}" srcId="{A2C25A60-0621-4274-B737-3BF72007E220}" destId="{39CFE1A9-39A2-4D3F-AC68-208CAA3BF866}" srcOrd="0" destOrd="0" parTransId="{72C32FB8-65DE-4A26-BF48-D0FA39F80CF2}" sibTransId="{480EAE0A-4BAA-4CE8-BC1D-7679627125A2}"/>
    <dgm:cxn modelId="{2BEF9592-658D-48C0-BCC5-4F422AF561E3}" type="presParOf" srcId="{53994E64-9CFC-4E00-9120-C5BD988261D5}" destId="{F2C648DA-FE23-4E09-86E3-257DFF2EA824}" srcOrd="0" destOrd="0" presId="urn:microsoft.com/office/officeart/2024/layout/IconCircleLabelList"/>
    <dgm:cxn modelId="{DB607CD7-DDCF-42F2-A63E-939EC4244258}" type="presParOf" srcId="{F2C648DA-FE23-4E09-86E3-257DFF2EA824}" destId="{F826796B-C142-48B7-88DF-0C98EB073C8F}" srcOrd="0" destOrd="0" presId="urn:microsoft.com/office/officeart/2024/layout/IconCircleLabelList"/>
    <dgm:cxn modelId="{95A77F49-8F77-4717-BB3A-65378EC182B9}" type="presParOf" srcId="{F2C648DA-FE23-4E09-86E3-257DFF2EA824}" destId="{C056F665-97E0-4E37-8DE2-A0CBCB3DD4D4}" srcOrd="1" destOrd="0" presId="urn:microsoft.com/office/officeart/2024/layout/IconCircleLabelList"/>
    <dgm:cxn modelId="{F687A32B-24C4-4F3B-8D0D-68AC5694E569}" type="presParOf" srcId="{F2C648DA-FE23-4E09-86E3-257DFF2EA824}" destId="{01FBC439-7B9D-4A90-83C1-DF6931237B70}" srcOrd="2" destOrd="0" presId="urn:microsoft.com/office/officeart/2024/layout/IconCircleLabelList"/>
    <dgm:cxn modelId="{C3596FF5-C8BC-498B-9AF2-4EC8F2127944}" type="presParOf" srcId="{F2C648DA-FE23-4E09-86E3-257DFF2EA824}" destId="{329DC621-1E9F-4543-B692-AF4C3BA84E6A}" srcOrd="3" destOrd="0" presId="urn:microsoft.com/office/officeart/2024/layout/IconCircleLabelList"/>
    <dgm:cxn modelId="{C465E467-768E-46FF-A39E-CDD3225561A9}" type="presParOf" srcId="{53994E64-9CFC-4E00-9120-C5BD988261D5}" destId="{C18194AF-854F-4343-8872-7E5DFC8646C1}" srcOrd="1" destOrd="0" presId="urn:microsoft.com/office/officeart/2024/layout/IconCircleLabelList"/>
    <dgm:cxn modelId="{E1B7018F-DBF8-4BF0-B281-505C6337FFBF}" type="presParOf" srcId="{53994E64-9CFC-4E00-9120-C5BD988261D5}" destId="{C61E9895-7A73-4FEF-86F4-B2688A0DF602}" srcOrd="2" destOrd="0" presId="urn:microsoft.com/office/officeart/2024/layout/IconCircleLabelList"/>
    <dgm:cxn modelId="{EE56314D-0BA4-498F-9833-4DD4A82EE300}" type="presParOf" srcId="{C61E9895-7A73-4FEF-86F4-B2688A0DF602}" destId="{CE0F5DD9-BDF0-4C13-BEAD-15C465957BDF}" srcOrd="0" destOrd="0" presId="urn:microsoft.com/office/officeart/2024/layout/IconCircleLabelList"/>
    <dgm:cxn modelId="{197BB872-ABC7-4A3B-BBBB-8DF0459B07A7}" type="presParOf" srcId="{C61E9895-7A73-4FEF-86F4-B2688A0DF602}" destId="{477E23DD-29ED-49AB-BF29-C0845CA7D6F9}" srcOrd="1" destOrd="0" presId="urn:microsoft.com/office/officeart/2024/layout/IconCircleLabelList"/>
    <dgm:cxn modelId="{8E7DB038-3050-4F19-A1C2-47DCCEA6A28E}" type="presParOf" srcId="{C61E9895-7A73-4FEF-86F4-B2688A0DF602}" destId="{2068C0A2-BD66-463F-8134-84701E99F476}" srcOrd="2" destOrd="0" presId="urn:microsoft.com/office/officeart/2024/layout/IconCircleLabelList"/>
    <dgm:cxn modelId="{05F72113-BCDD-4AE8-B604-07373C56CE5E}" type="presParOf" srcId="{C61E9895-7A73-4FEF-86F4-B2688A0DF602}" destId="{4CDC1E4C-F441-4CF0-95FD-FEB60CDDFACF}" srcOrd="3" destOrd="0" presId="urn:microsoft.com/office/officeart/2024/layout/IconCircleLabelList"/>
    <dgm:cxn modelId="{CAF7BF44-05A4-4D09-A1C6-B82AB4370BC4}" type="presParOf" srcId="{53994E64-9CFC-4E00-9120-C5BD988261D5}" destId="{E9F1D4CB-D1B5-4B8E-A3C1-0FD72E00D873}" srcOrd="3" destOrd="0" presId="urn:microsoft.com/office/officeart/2024/layout/IconCircleLabelList"/>
    <dgm:cxn modelId="{68B3CEA5-3779-4B87-99B9-C32DE2FB7CD2}" type="presParOf" srcId="{53994E64-9CFC-4E00-9120-C5BD988261D5}" destId="{940927BF-F9F2-4F4B-8CBF-2AC1D9FFD227}" srcOrd="4" destOrd="0" presId="urn:microsoft.com/office/officeart/2024/layout/IconCircleLabelList"/>
    <dgm:cxn modelId="{13427714-55D6-4714-9F33-696E3889A829}" type="presParOf" srcId="{940927BF-F9F2-4F4B-8CBF-2AC1D9FFD227}" destId="{290BC029-2289-4DA6-A085-934E24DA91AA}" srcOrd="0" destOrd="0" presId="urn:microsoft.com/office/officeart/2024/layout/IconCircleLabelList"/>
    <dgm:cxn modelId="{D578162E-C061-42FF-8D0B-792C4EC1206C}" type="presParOf" srcId="{940927BF-F9F2-4F4B-8CBF-2AC1D9FFD227}" destId="{4A257859-EADF-4224-BD51-A133F156A498}" srcOrd="1" destOrd="0" presId="urn:microsoft.com/office/officeart/2024/layout/IconCircleLabelList"/>
    <dgm:cxn modelId="{3178B7E4-929B-43DE-8738-2E07E7705F5A}" type="presParOf" srcId="{940927BF-F9F2-4F4B-8CBF-2AC1D9FFD227}" destId="{07FB3F12-3537-45DB-99E5-BBC2BE04ED94}" srcOrd="2" destOrd="0" presId="urn:microsoft.com/office/officeart/2024/layout/IconCircleLabelList"/>
    <dgm:cxn modelId="{057FA17D-1268-4427-9ABA-3DCF89CFD695}" type="presParOf" srcId="{940927BF-F9F2-4F4B-8CBF-2AC1D9FFD227}" destId="{4CDC0D63-0520-4E7E-9FE9-D542D286F9DB}" srcOrd="3" destOrd="0" presId="urn:microsoft.com/office/officeart/2024/layout/IconCircleLabelList"/>
    <dgm:cxn modelId="{E72DC4D9-F22D-4A3F-8C6D-0F6DC86457A3}" type="presParOf" srcId="{53994E64-9CFC-4E00-9120-C5BD988261D5}" destId="{C6F88EE9-332B-4970-ADCD-40FB1A91F8C2}" srcOrd="5" destOrd="0" presId="urn:microsoft.com/office/officeart/2024/layout/IconCircleLabelList"/>
    <dgm:cxn modelId="{139EBF2B-E81D-4EFE-A1E2-C77621D2345F}" type="presParOf" srcId="{53994E64-9CFC-4E00-9120-C5BD988261D5}" destId="{912D382F-FAE8-47A9-B6FE-4A6A5E6A3BDD}" srcOrd="6" destOrd="0" presId="urn:microsoft.com/office/officeart/2024/layout/IconCircleLabelList"/>
    <dgm:cxn modelId="{570AE87C-02B8-4618-A538-2443F717D338}" type="presParOf" srcId="{912D382F-FAE8-47A9-B6FE-4A6A5E6A3BDD}" destId="{83F7C83E-8AF7-49B1-A86A-55B0824FCF9C}" srcOrd="0" destOrd="0" presId="urn:microsoft.com/office/officeart/2024/layout/IconCircleLabelList"/>
    <dgm:cxn modelId="{841B4FE3-862C-46CC-AA5D-9F2F13F43230}" type="presParOf" srcId="{912D382F-FAE8-47A9-B6FE-4A6A5E6A3BDD}" destId="{9A22D922-B807-4D93-AABE-2351C08985C2}" srcOrd="1" destOrd="0" presId="urn:microsoft.com/office/officeart/2024/layout/IconCircleLabelList"/>
    <dgm:cxn modelId="{B511C126-B0F0-4A34-A758-E4513507EB4B}" type="presParOf" srcId="{912D382F-FAE8-47A9-B6FE-4A6A5E6A3BDD}" destId="{42642E41-3EC9-484E-9512-B850AD3A0E50}" srcOrd="2" destOrd="0" presId="urn:microsoft.com/office/officeart/2024/layout/IconCircleLabelList"/>
    <dgm:cxn modelId="{C8FE0D54-BC3F-496D-A409-A7C6A9CBEFD6}" type="presParOf" srcId="{912D382F-FAE8-47A9-B6FE-4A6A5E6A3BDD}" destId="{A28CD4C9-7522-43DA-931A-F7AAF093ED94}" srcOrd="3" destOrd="0" presId="urn:microsoft.com/office/officeart/2024/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4A2A18-D3FC-4E3D-A78B-A8DA94FFFA5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1CD2F7A-AEDC-4385-B849-61C888B4521C}" type="pres">
      <dgm:prSet presAssocID="{3E4A2A18-D3FC-4E3D-A78B-A8DA94FFFA51}" presName="linear" presStyleCnt="0">
        <dgm:presLayoutVars>
          <dgm:animLvl val="lvl"/>
          <dgm:resizeHandles val="exact"/>
        </dgm:presLayoutVars>
      </dgm:prSet>
      <dgm:spPr/>
    </dgm:pt>
  </dgm:ptLst>
  <dgm:cxnLst>
    <dgm:cxn modelId="{81B6FEA9-5375-4309-8A4F-BB3F375C0DF9}" type="presOf" srcId="{3E4A2A18-D3FC-4E3D-A78B-A8DA94FFFA51}" destId="{01CD2F7A-AEDC-4385-B849-61C888B4521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6796B-C142-48B7-88DF-0C98EB073C8F}">
      <dsp:nvSpPr>
        <dsp:cNvPr id="0" name=""/>
        <dsp:cNvSpPr/>
      </dsp:nvSpPr>
      <dsp:spPr>
        <a:xfrm>
          <a:off x="320876" y="68400"/>
          <a:ext cx="983267" cy="983267"/>
        </a:xfrm>
        <a:prstGeom prst="ellipse">
          <a:avLst/>
        </a:prstGeom>
        <a:solidFill>
          <a:srgbClr val="0A6E8C"/>
        </a:solidFill>
        <a:ln w="12700" cap="flat" cmpd="sng" algn="ctr">
          <a:solidFill>
            <a:srgbClr val="0A6E8C"/>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56F665-97E0-4E37-8DE2-A0CBCB3DD4D4}">
      <dsp:nvSpPr>
        <dsp:cNvPr id="0" name=""/>
        <dsp:cNvSpPr/>
      </dsp:nvSpPr>
      <dsp:spPr>
        <a:xfrm>
          <a:off x="475037" y="190729"/>
          <a:ext cx="693123" cy="693123"/>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rgbClr val="0A6E8C"/>
          </a:solidFill>
          <a:prstDash val="solid"/>
          <a:miter lim="800000"/>
        </a:ln>
        <a:effectLst/>
      </dsp:spPr>
      <dsp:style>
        <a:lnRef idx="2">
          <a:scrgbClr r="0" g="0" b="0"/>
        </a:lnRef>
        <a:fillRef idx="1">
          <a:scrgbClr r="0" g="0" b="0"/>
        </a:fillRef>
        <a:effectRef idx="0">
          <a:scrgbClr r="0" g="0" b="0"/>
        </a:effectRef>
        <a:fontRef idx="minor"/>
      </dsp:style>
    </dsp:sp>
    <dsp:sp modelId="{329DC621-1E9F-4543-B692-AF4C3BA84E6A}">
      <dsp:nvSpPr>
        <dsp:cNvPr id="0" name=""/>
        <dsp:cNvSpPr/>
      </dsp:nvSpPr>
      <dsp:spPr>
        <a:xfrm>
          <a:off x="2" y="1189609"/>
          <a:ext cx="1611914" cy="644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a:pPr>
          <a:r>
            <a:rPr lang="en-US" sz="1200" b="1" kern="1200" dirty="0"/>
            <a:t>Plan</a:t>
          </a:r>
          <a:r>
            <a:rPr lang="en-US" sz="1200" kern="1200" dirty="0"/>
            <a:t>: </a:t>
          </a:r>
        </a:p>
        <a:p>
          <a:pPr marL="0" lvl="0" indent="0" algn="ctr" defTabSz="533400">
            <a:lnSpc>
              <a:spcPct val="100000"/>
            </a:lnSpc>
            <a:spcBef>
              <a:spcPct val="0"/>
            </a:spcBef>
            <a:spcAft>
              <a:spcPct val="35000"/>
            </a:spcAft>
            <a:buNone/>
            <a:defRPr/>
          </a:pPr>
          <a:r>
            <a:rPr lang="en-US" sz="1200" kern="1200" dirty="0"/>
            <a:t>Test objectives, steps and expected results </a:t>
          </a:r>
        </a:p>
      </dsp:txBody>
      <dsp:txXfrm>
        <a:off x="2" y="1189609"/>
        <a:ext cx="1611914" cy="644765"/>
      </dsp:txXfrm>
    </dsp:sp>
    <dsp:sp modelId="{CE0F5DD9-BDF0-4C13-BEAD-15C465957BDF}">
      <dsp:nvSpPr>
        <dsp:cNvPr id="0" name=""/>
        <dsp:cNvSpPr/>
      </dsp:nvSpPr>
      <dsp:spPr>
        <a:xfrm>
          <a:off x="2210323" y="72952"/>
          <a:ext cx="983267" cy="983267"/>
        </a:xfrm>
        <a:prstGeom prst="ellipse">
          <a:avLst/>
        </a:prstGeom>
        <a:solidFill>
          <a:srgbClr val="0A6E8C"/>
        </a:solidFill>
        <a:ln w="12700" cap="flat" cmpd="sng" algn="ctr">
          <a:solidFill>
            <a:srgbClr val="0A6E8C"/>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7E23DD-29ED-49AB-BF29-C0845CA7D6F9}">
      <dsp:nvSpPr>
        <dsp:cNvPr id="0" name=""/>
        <dsp:cNvSpPr/>
      </dsp:nvSpPr>
      <dsp:spPr>
        <a:xfrm>
          <a:off x="2355395" y="218024"/>
          <a:ext cx="693123" cy="693123"/>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rgbClr val="0A6E8C"/>
          </a:solidFill>
          <a:prstDash val="solid"/>
          <a:miter lim="800000"/>
        </a:ln>
        <a:effectLst/>
      </dsp:spPr>
      <dsp:style>
        <a:lnRef idx="2">
          <a:scrgbClr r="0" g="0" b="0"/>
        </a:lnRef>
        <a:fillRef idx="1">
          <a:scrgbClr r="0" g="0" b="0"/>
        </a:fillRef>
        <a:effectRef idx="0">
          <a:scrgbClr r="0" g="0" b="0"/>
        </a:effectRef>
        <a:fontRef idx="minor"/>
      </dsp:style>
    </dsp:sp>
    <dsp:sp modelId="{4CDC1E4C-F441-4CF0-95FD-FEB60CDDFACF}">
      <dsp:nvSpPr>
        <dsp:cNvPr id="0" name=""/>
        <dsp:cNvSpPr/>
      </dsp:nvSpPr>
      <dsp:spPr>
        <a:xfrm>
          <a:off x="1907106" y="1233414"/>
          <a:ext cx="1611914" cy="644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a:pPr>
          <a:r>
            <a:rPr lang="en-US" sz="1200" b="1" kern="1200" dirty="0"/>
            <a:t>Developer Test:</a:t>
          </a:r>
        </a:p>
        <a:p>
          <a:pPr marL="0" lvl="0" indent="0" algn="ctr" defTabSz="533400">
            <a:lnSpc>
              <a:spcPct val="100000"/>
            </a:lnSpc>
            <a:spcBef>
              <a:spcPct val="0"/>
            </a:spcBef>
            <a:spcAft>
              <a:spcPct val="35000"/>
            </a:spcAft>
            <a:buNone/>
            <a:defRPr/>
          </a:pPr>
          <a:r>
            <a:rPr lang="en-US" sz="1200" b="1" kern="1200" dirty="0"/>
            <a:t> </a:t>
          </a:r>
          <a:r>
            <a:rPr lang="en-US" sz="1200" kern="1200" dirty="0"/>
            <a:t>Initial Pass/Fail testing </a:t>
          </a:r>
        </a:p>
      </dsp:txBody>
      <dsp:txXfrm>
        <a:off x="1907106" y="1233414"/>
        <a:ext cx="1611914" cy="644765"/>
      </dsp:txXfrm>
    </dsp:sp>
    <dsp:sp modelId="{290BC029-2289-4DA6-A085-934E24DA91AA}">
      <dsp:nvSpPr>
        <dsp:cNvPr id="0" name=""/>
        <dsp:cNvSpPr/>
      </dsp:nvSpPr>
      <dsp:spPr>
        <a:xfrm>
          <a:off x="4104322" y="72952"/>
          <a:ext cx="983267" cy="983267"/>
        </a:xfrm>
        <a:prstGeom prst="ellipse">
          <a:avLst/>
        </a:prstGeom>
        <a:solidFill>
          <a:srgbClr val="0A6E8C"/>
        </a:solidFill>
        <a:ln w="12700" cap="flat" cmpd="sng" algn="ctr">
          <a:solidFill>
            <a:srgbClr val="0A6E8C"/>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257859-EADF-4224-BD51-A133F156A498}">
      <dsp:nvSpPr>
        <dsp:cNvPr id="0" name=""/>
        <dsp:cNvSpPr/>
      </dsp:nvSpPr>
      <dsp:spPr>
        <a:xfrm>
          <a:off x="4249394" y="218024"/>
          <a:ext cx="693123" cy="693123"/>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CDC0D63-0520-4E7E-9FE9-D542D286F9DB}">
      <dsp:nvSpPr>
        <dsp:cNvPr id="0" name=""/>
        <dsp:cNvSpPr/>
      </dsp:nvSpPr>
      <dsp:spPr>
        <a:xfrm>
          <a:off x="3814209" y="1233414"/>
          <a:ext cx="1611914" cy="644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a:pPr>
          <a:r>
            <a:rPr lang="en-US" sz="1200" b="1" kern="1200" dirty="0"/>
            <a:t>Peer Test: </a:t>
          </a:r>
        </a:p>
        <a:p>
          <a:pPr marL="0" lvl="0" indent="0" algn="ctr" defTabSz="533400">
            <a:lnSpc>
              <a:spcPct val="100000"/>
            </a:lnSpc>
            <a:spcBef>
              <a:spcPct val="0"/>
            </a:spcBef>
            <a:spcAft>
              <a:spcPct val="35000"/>
            </a:spcAft>
            <a:buNone/>
            <a:defRPr/>
          </a:pPr>
          <a:r>
            <a:rPr lang="en-US" sz="1200" kern="1200" dirty="0"/>
            <a:t>Teammate verification</a:t>
          </a:r>
        </a:p>
      </dsp:txBody>
      <dsp:txXfrm>
        <a:off x="3814209" y="1233414"/>
        <a:ext cx="1611914" cy="644765"/>
      </dsp:txXfrm>
    </dsp:sp>
    <dsp:sp modelId="{83F7C83E-8AF7-49B1-A86A-55B0824FCF9C}">
      <dsp:nvSpPr>
        <dsp:cNvPr id="0" name=""/>
        <dsp:cNvSpPr/>
      </dsp:nvSpPr>
      <dsp:spPr>
        <a:xfrm>
          <a:off x="5998321" y="72952"/>
          <a:ext cx="983267" cy="983267"/>
        </a:xfrm>
        <a:prstGeom prst="ellipse">
          <a:avLst/>
        </a:prstGeom>
        <a:solidFill>
          <a:srgbClr val="0A6E8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22D922-B807-4D93-AABE-2351C08985C2}">
      <dsp:nvSpPr>
        <dsp:cNvPr id="0" name=""/>
        <dsp:cNvSpPr/>
      </dsp:nvSpPr>
      <dsp:spPr>
        <a:xfrm>
          <a:off x="6143393" y="218024"/>
          <a:ext cx="693123" cy="693123"/>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28CD4C9-7522-43DA-931A-F7AAF093ED94}">
      <dsp:nvSpPr>
        <dsp:cNvPr id="0" name=""/>
        <dsp:cNvSpPr/>
      </dsp:nvSpPr>
      <dsp:spPr>
        <a:xfrm>
          <a:off x="5685996" y="1229436"/>
          <a:ext cx="1611914" cy="644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a:pPr>
          <a:r>
            <a:rPr lang="en-US" sz="1200" b="1" kern="1200" dirty="0"/>
            <a:t>Evidence: </a:t>
          </a:r>
        </a:p>
        <a:p>
          <a:pPr marL="0" lvl="0" indent="0" algn="ctr" defTabSz="533400">
            <a:lnSpc>
              <a:spcPct val="100000"/>
            </a:lnSpc>
            <a:spcBef>
              <a:spcPct val="0"/>
            </a:spcBef>
            <a:spcAft>
              <a:spcPct val="35000"/>
            </a:spcAft>
            <a:buNone/>
            <a:defRPr/>
          </a:pPr>
          <a:r>
            <a:rPr lang="en-US" sz="1200" kern="1200" dirty="0"/>
            <a:t>Screenshots </a:t>
          </a:r>
        </a:p>
      </dsp:txBody>
      <dsp:txXfrm>
        <a:off x="5685996" y="1229436"/>
        <a:ext cx="1611914" cy="6447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24/layout/IconCircleLabelList">
  <dgm:title val=""/>
  <dgm:desc val=""/>
  <dgm:catLst>
    <dgm:cat type="list" pri="18500"/>
    <dgm:cat type="picture" pri="8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43"/>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node1">
          <dgm:alg type="sp"/>
          <dgm:shape xmlns:r="http://schemas.openxmlformats.org/officeDocument/2006/relationships" type="ellipse" r:blip="">
            <dgm:adjLst/>
          </dgm:shape>
          <dgm:presOf/>
          <dgm:constrLst/>
          <dgm:ruleLst/>
        </dgm:layoutNode>
        <dgm:layoutNode name="iconRect" styleLbl="solidFgAcc1">
          <dgm:alg type="sp"/>
          <dgm:shape xmlns:r="http://schemas.openxmlformats.org/officeDocument/2006/relationships" type="ellipse"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18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4D"/>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solidFill>
            <a:srgbClr val="0D3B4D"/>
          </a:solidFill>
          <a:ln/>
        </p:spPr>
        <p:txBody>
          <a:bodyPr wrap="square" lIns="0" tIns="0" rIns="0" bIns="0" rtlCol="0" anchor="ctr"/>
          <a:lstStyle/>
          <a:p>
            <a:pPr marL="0" indent="0">
              <a:buNone/>
            </a:pPr>
            <a:r>
              <a:rPr lang="en-US" sz="4000" dirty="0">
                <a:solidFill>
                  <a:srgbClr val="E8D9B0"/>
                </a:solidFill>
                <a:latin typeface="Cambria" pitchFamily="34" charset="0"/>
                <a:ea typeface="Cambria" pitchFamily="34" charset="-122"/>
                <a:cs typeface="Cambria" pitchFamily="34" charset="-120"/>
              </a:rPr>
              <a:t>Moffat Bay Marina</a:t>
            </a:r>
            <a:endParaRPr lang="en-US" sz="4000" dirty="0"/>
          </a:p>
        </p:txBody>
      </p:sp>
      <p:sp>
        <p:nvSpPr>
          <p:cNvPr id="3" name="Text 1"/>
          <p:cNvSpPr txBox="1"/>
          <p:nvPr/>
        </p:nvSpPr>
        <p:spPr>
          <a:xfrm>
            <a:off x="640080" y="2011680"/>
            <a:ext cx="786384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QA Presentation  ·  Blue Team  ·  CSD 460 Capstone</a:t>
            </a:r>
            <a:endParaRPr lang="en-US" sz="1600" dirty="0"/>
          </a:p>
        </p:txBody>
      </p:sp>
      <p:sp>
        <p:nvSpPr>
          <p:cNvPr id="4" name="Text 2"/>
          <p:cNvSpPr txBox="1"/>
          <p:nvPr/>
        </p:nvSpPr>
        <p:spPr>
          <a:xfrm>
            <a:off x="640080" y="3108960"/>
            <a:ext cx="7863840" cy="128016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Title slide: project name, team name, course, and date.</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Meet Blue Team</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1  ·  Introduction of Team</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Section divider for the team introductions. Assembled from everyone’s About the Developer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About the Developer: Robert Breutzmann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About the Developer: Miguel Fernandez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About the Developer: Carolina Rodriguez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2755311" y="1304685"/>
            <a:ext cx="5657169" cy="3200703"/>
          </a:xfrm>
          <a:prstGeom prst="rect">
            <a:avLst/>
          </a:prstGeom>
          <a:noFill/>
          <a:ln/>
        </p:spPr>
        <p:txBody>
          <a:bodyPr wrap="square" lIns="0" tIns="0" rIns="0" bIns="0" rtlCol="0" anchor="t"/>
          <a:lstStyle/>
          <a:p>
            <a:r>
              <a:rPr lang="en-US" sz="1050" dirty="0"/>
              <a:t>Hi there! You can call me Caro for short 😊. I’m a Software Development student learning how the different parts of software development work together, from front-end design to back-end development, databases, and testing.</a:t>
            </a:r>
          </a:p>
          <a:p>
            <a:endParaRPr lang="en-US" sz="1050" dirty="0"/>
          </a:p>
          <a:p>
            <a:r>
              <a:rPr lang="en-US" sz="1050" dirty="0"/>
              <a:t>Throughout this project, I contributed in a lot of different areas. Early on, I helped create three personas and worked on the wireframes for the Reservation, Reservation Summary, and Look Up Reservation pages. I also contributed to the ERD, especially the Reservation and </a:t>
            </a:r>
            <a:r>
              <a:rPr lang="en-US" sz="1050" dirty="0" err="1"/>
              <a:t>TerminationNotice</a:t>
            </a:r>
            <a:r>
              <a:rPr lang="en-US" sz="1050" dirty="0"/>
              <a:t> tables, along with their SQL and business rules.</a:t>
            </a:r>
          </a:p>
          <a:p>
            <a:endParaRPr lang="en-US" sz="1050" dirty="0"/>
          </a:p>
          <a:p>
            <a:r>
              <a:rPr lang="en-US" sz="1050" dirty="0"/>
              <a:t>For development, I designed the main section of the Landing Page, worked on the back end of the Registration Page, and helped with the front end of the Reservation Summary page. I also worked on the back end of the Look Up Reservation page and My Fleet.</a:t>
            </a:r>
          </a:p>
          <a:p>
            <a:endParaRPr lang="en-US" sz="1050" dirty="0"/>
          </a:p>
          <a:p>
            <a:r>
              <a:rPr lang="en-US" sz="1050" dirty="0"/>
              <a:t>Testing was another big part of my contribution. I completed developer testing for the About Us page, peer testing for the Reservation and Reservation Summary pages, developer testing for my own pages, and peer testing for the back-end tests of the Edit User Info page. I also worked on the testing section of this presentation, Slides 20–27.</a:t>
            </a:r>
          </a:p>
          <a:p>
            <a:endParaRPr lang="en-US" sz="1050" dirty="0"/>
          </a:p>
          <a:p>
            <a:pPr lvl="0"/>
            <a:r>
              <a:rPr lang="en-US" sz="1050" dirty="0"/>
              <a:t>I’m excited to keep learning and building on what I gained from this project. 😊</a:t>
            </a:r>
          </a:p>
          <a:p>
            <a:pPr lvl="0"/>
            <a:endParaRPr lang="en-US" sz="1400" dirty="0"/>
          </a:p>
          <a:p>
            <a:pPr lvl="0"/>
            <a:endParaRPr lang="en-US" sz="1400" dirty="0"/>
          </a:p>
          <a:p>
            <a:pPr lvl="0"/>
            <a:endParaRPr lang="en-US" sz="1400" dirty="0"/>
          </a:p>
          <a:p>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5</a:t>
            </a:r>
            <a:endParaRPr lang="en-US" sz="900" dirty="0"/>
          </a:p>
        </p:txBody>
      </p:sp>
      <p:pic>
        <p:nvPicPr>
          <p:cNvPr id="6" name="Picture 5">
            <a:extLst>
              <a:ext uri="{FF2B5EF4-FFF2-40B4-BE49-F238E27FC236}">
                <a16:creationId xmlns:a16="http://schemas.microsoft.com/office/drawing/2014/main" id="{A737850C-E13B-1828-211B-85A267795C93}"/>
              </a:ext>
            </a:extLst>
          </p:cNvPr>
          <p:cNvPicPr>
            <a:picLocks noChangeAspect="1"/>
          </p:cNvPicPr>
          <p:nvPr/>
        </p:nvPicPr>
        <p:blipFill>
          <a:blip r:embed="rId3"/>
          <a:stretch>
            <a:fillRect/>
          </a:stretch>
        </p:blipFill>
        <p:spPr>
          <a:xfrm rot="5400000" flipV="1">
            <a:off x="372801" y="1864665"/>
            <a:ext cx="2466909" cy="18501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About the Developer: Sara White</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Sara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Sample Prototypes</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2  ·  From wireframe to finished page</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Section divider for the prototype comparisons.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Wireframe to Finished Page (1)</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A Module 2 wireframe or mockup side by side with a screenshot of the finished page, plus a line on what carried through and what changed.</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Wireframe to Finished Page (2)</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A second wireframe-to-finished-page comparison, using a different page from the first.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How the Design Changed Along the Way</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main ways the finished site differs from the original prototypes, and why each change was made.</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Database Design</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3  ·  The ERD</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Section divider for the database design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The Full ERD</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complete, current ERD, with a short orientation to how the tables are grouped.</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Customer</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Customer table: what it stores, and how it connects to everything else (reservations, boat ownership, and the wait list).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Reservation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Reservation table: what it stores, and how it connects to everything else (the customer, the boat, the slip, and termination notices).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Boats and Ownership</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Boat and BoatOwnership tables: what they store, and how ownership links boats to customers over time.</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Docks, Slips and Slip Sizes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Dock, Slip and SlipSize tables: how the marina’s slip inventory is modeled, and how it feeds reservations and the wait list.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Wait List and Termination Notices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WaitList and TerminationNotice tables: what each one tracks, and which tables they connect to.</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Supporting Tables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The standalone and supporting tables (Contact, Employee, Rate, DatabaseVersion): what each is for, in a line or two.</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Business Rules That Shaped the Schema</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Two or three business rules that directly drove a design decision in the database, and what that decision was.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a:solidFill>
              <a:srgbClr val="0A6E8C"/>
            </a:solid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Testing and Results</a:t>
            </a:r>
            <a:endParaRPr lang="en-US" sz="3600" dirty="0"/>
          </a:p>
        </p:txBody>
      </p:sp>
      <p:sp>
        <p:nvSpPr>
          <p:cNvPr id="3" name="Text 1"/>
          <p:cNvSpPr txBox="1"/>
          <p:nvPr/>
        </p:nvSpPr>
        <p:spPr>
          <a:xfrm>
            <a:off x="735614" y="2103120"/>
            <a:ext cx="7863840" cy="365760"/>
          </a:xfrm>
          <a:prstGeom prst="rect">
            <a:avLst/>
          </a:prstGeom>
          <a:noFill/>
          <a:ln/>
        </p:spPr>
        <p:txBody>
          <a:bodyPr wrap="square" lIns="0" tIns="0" rIns="0" bIns="0" rtlCol="0" anchor="ctr"/>
          <a:lstStyle/>
          <a:p>
            <a:pPr marL="0" indent="0">
              <a:buNone/>
            </a:pPr>
            <a:r>
              <a:rPr lang="en-US" sz="1500" dirty="0">
                <a:solidFill>
                  <a:schemeClr val="bg2"/>
                </a:solidFill>
              </a:rPr>
              <a:t>Functional testing across Modules </a:t>
            </a:r>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from pages 20-27 : Carolina</a:t>
            </a:r>
            <a:endParaRPr lang="en-US" sz="1300" dirty="0">
              <a:solidFill>
                <a:srgbClr val="F4A261"/>
              </a:solidFill>
            </a:endParaRPr>
          </a:p>
          <a:p>
            <a:pPr marL="0" indent="0">
              <a:buNone/>
            </a:pPr>
            <a:r>
              <a:rPr lang="en-US" sz="800" dirty="0">
                <a:solidFill>
                  <a:srgbClr val="000000"/>
                </a:solidFill>
                <a:latin typeface="Calibri" pitchFamily="34" charset="0"/>
                <a:ea typeface="Calibri" pitchFamily="34" charset="-122"/>
                <a:cs typeface="Calibri" pitchFamily="34" charset="-120"/>
              </a:rPr>
              <a:t> </a:t>
            </a:r>
          </a:p>
          <a:p>
            <a:pPr marL="0" indent="0">
              <a:buNone/>
            </a:pPr>
            <a:r>
              <a:rPr lang="en-US" sz="1400" dirty="0">
                <a:solidFill>
                  <a:schemeClr val="bg2"/>
                </a:solidFill>
                <a:latin typeface="Calibri" pitchFamily="34" charset="0"/>
                <a:ea typeface="Calibri" pitchFamily="34" charset="-122"/>
                <a:cs typeface="Calibri" pitchFamily="34" charset="-120"/>
              </a:rPr>
              <a:t>Developer testing, Peer Testing, Data Verification and UI Validation</a:t>
            </a:r>
            <a:endParaRPr lang="en-US" sz="1400" dirty="0">
              <a:solidFill>
                <a:schemeClr val="bg2"/>
              </a:solidFill>
            </a:endParaRPr>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How We Tested</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graphicFrame>
        <p:nvGraphicFramePr>
          <p:cNvPr id="7" name="Text 2">
            <a:extLst>
              <a:ext uri="{FF2B5EF4-FFF2-40B4-BE49-F238E27FC236}">
                <a16:creationId xmlns:a16="http://schemas.microsoft.com/office/drawing/2014/main" id="{E6532AB3-4931-0E50-C19C-AC8FB99FCD43}"/>
              </a:ext>
            </a:extLst>
          </p:cNvPr>
          <p:cNvGraphicFramePr/>
          <p:nvPr>
            <p:extLst>
              <p:ext uri="{D42A27DB-BD31-4B8C-83A1-F6EECF244321}">
                <p14:modId xmlns:p14="http://schemas.microsoft.com/office/powerpoint/2010/main" val="1945436831"/>
              </p:ext>
            </p:extLst>
          </p:nvPr>
        </p:nvGraphicFramePr>
        <p:xfrm>
          <a:off x="805216" y="1303155"/>
          <a:ext cx="7297913" cy="20802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44C56B16-E481-CF6E-41A1-CA7EB1210CA5}"/>
              </a:ext>
            </a:extLst>
          </p:cNvPr>
          <p:cNvSpPr txBox="1"/>
          <p:nvPr/>
        </p:nvSpPr>
        <p:spPr>
          <a:xfrm>
            <a:off x="805216" y="3474797"/>
            <a:ext cx="7386971" cy="984885"/>
          </a:xfrm>
          <a:prstGeom prst="rect">
            <a:avLst/>
          </a:prstGeom>
          <a:noFill/>
        </p:spPr>
        <p:txBody>
          <a:bodyPr wrap="square" rtlCol="0">
            <a:spAutoFit/>
          </a:bodyPr>
          <a:lstStyle/>
          <a:p>
            <a:pPr lvl="0">
              <a:lnSpc>
                <a:spcPct val="100000"/>
              </a:lnSpc>
            </a:pPr>
            <a:r>
              <a:rPr lang="en-US" sz="1400" b="1" dirty="0">
                <a:solidFill>
                  <a:srgbClr val="F4A261"/>
                </a:solidFill>
                <a:latin typeface="Calibri" pitchFamily="34" charset="0"/>
                <a:ea typeface="Calibri" pitchFamily="34" charset="-122"/>
                <a:cs typeface="Calibri" pitchFamily="34" charset="-120"/>
              </a:rPr>
              <a:t>Summary: </a:t>
            </a:r>
            <a:r>
              <a:rPr lang="en-US" sz="1100" dirty="0"/>
              <a:t>Throughout the project, every major page had its own functional test plan. The developer tested the feature first, and then a teammate repeated the same steps as the peer tester. Each week, the roles switched depending on which feature was being tested. Every test included the steps to follow, the expected results, the Pass/Fail outcome, and screenshots from the peer tester. For backend features, we also ran MySQL queries to confirm that the database matched what the user saw on the page.</a:t>
            </a:r>
          </a:p>
        </p:txBody>
      </p:sp>
      <p:sp>
        <p:nvSpPr>
          <p:cNvPr id="11" name="Arrow: Notched Right 10">
            <a:extLst>
              <a:ext uri="{FF2B5EF4-FFF2-40B4-BE49-F238E27FC236}">
                <a16:creationId xmlns:a16="http://schemas.microsoft.com/office/drawing/2014/main" id="{A95A2B84-B7CA-1602-E0B9-C6A568355471}"/>
              </a:ext>
            </a:extLst>
          </p:cNvPr>
          <p:cNvSpPr/>
          <p:nvPr/>
        </p:nvSpPr>
        <p:spPr>
          <a:xfrm>
            <a:off x="2502090" y="2115403"/>
            <a:ext cx="254758" cy="255724"/>
          </a:xfrm>
          <a:prstGeom prst="notchedRightArrow">
            <a:avLst/>
          </a:prstGeom>
          <a:solidFill>
            <a:srgbClr val="0A6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Notched Right 14">
            <a:extLst>
              <a:ext uri="{FF2B5EF4-FFF2-40B4-BE49-F238E27FC236}">
                <a16:creationId xmlns:a16="http://schemas.microsoft.com/office/drawing/2014/main" id="{193786B0-8DE2-902C-E177-B31EC3B9C83F}"/>
              </a:ext>
            </a:extLst>
          </p:cNvPr>
          <p:cNvSpPr/>
          <p:nvPr/>
        </p:nvSpPr>
        <p:spPr>
          <a:xfrm>
            <a:off x="6341315" y="2089073"/>
            <a:ext cx="254758" cy="255724"/>
          </a:xfrm>
          <a:prstGeom prst="notchedRightArrow">
            <a:avLst/>
          </a:prstGeom>
          <a:solidFill>
            <a:srgbClr val="0A6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Notched Right 16">
            <a:extLst>
              <a:ext uri="{FF2B5EF4-FFF2-40B4-BE49-F238E27FC236}">
                <a16:creationId xmlns:a16="http://schemas.microsoft.com/office/drawing/2014/main" id="{F0561304-3D62-5EE3-7E83-AFE44C4A90AC}"/>
              </a:ext>
            </a:extLst>
          </p:cNvPr>
          <p:cNvSpPr/>
          <p:nvPr/>
        </p:nvSpPr>
        <p:spPr>
          <a:xfrm>
            <a:off x="4409192" y="2089073"/>
            <a:ext cx="254758" cy="255724"/>
          </a:xfrm>
          <a:prstGeom prst="notchedRightArrow">
            <a:avLst/>
          </a:prstGeom>
          <a:solidFill>
            <a:srgbClr val="0A6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1: Registration- Account Creation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800" dirty="0">
                <a:solidFill>
                  <a:srgbClr val="000000"/>
                </a:solidFill>
                <a:latin typeface="Calibri" pitchFamily="34" charset="0"/>
                <a:ea typeface="Calibri" pitchFamily="34" charset="-122"/>
                <a:cs typeface="Calibri" pitchFamily="34" charset="-120"/>
              </a:rPr>
              <a:t> </a:t>
            </a:r>
          </a:p>
          <a:p>
            <a:pPr marL="0" indent="0">
              <a:buNone/>
            </a:pP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22</a:t>
            </a:r>
            <a:endParaRPr lang="en-US" sz="900" dirty="0"/>
          </a:p>
        </p:txBody>
      </p:sp>
      <p:sp>
        <p:nvSpPr>
          <p:cNvPr id="9" name="Shape 1">
            <a:extLst>
              <a:ext uri="{FF2B5EF4-FFF2-40B4-BE49-F238E27FC236}">
                <a16:creationId xmlns:a16="http://schemas.microsoft.com/office/drawing/2014/main" id="{048DDDC8-5B69-3C67-782A-4194E8A4552C}"/>
              </a:ext>
            </a:extLst>
          </p:cNvPr>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11" name="Text 2">
            <a:extLst>
              <a:ext uri="{FF2B5EF4-FFF2-40B4-BE49-F238E27FC236}">
                <a16:creationId xmlns:a16="http://schemas.microsoft.com/office/drawing/2014/main" id="{155BF7EF-C09B-133B-E930-FF277A0D4A06}"/>
              </a:ext>
            </a:extLst>
          </p:cNvPr>
          <p:cNvSpPr txBox="1"/>
          <p:nvPr/>
        </p:nvSpPr>
        <p:spPr>
          <a:xfrm>
            <a:off x="731520" y="1137313"/>
            <a:ext cx="7680960" cy="659642"/>
          </a:xfrm>
          <a:prstGeom prst="rect">
            <a:avLst/>
          </a:prstGeom>
          <a:noFill/>
          <a:ln/>
        </p:spPr>
        <p:txBody>
          <a:bodyPr wrap="square" lIns="0" tIns="0" rIns="0" bIns="0" rtlCol="0" anchor="t"/>
          <a:lstStyle/>
          <a:p>
            <a:r>
              <a:rPr lang="en-US" sz="1400" b="1" dirty="0">
                <a:solidFill>
                  <a:srgbClr val="F4A261"/>
                </a:solidFill>
                <a:latin typeface="Calibri" pitchFamily="34" charset="0"/>
                <a:ea typeface="Calibri" pitchFamily="34" charset="-122"/>
                <a:cs typeface="Calibri" pitchFamily="34" charset="-120"/>
              </a:rPr>
              <a:t>What we tested: </a:t>
            </a:r>
            <a:r>
              <a:rPr lang="en-US" sz="1050" dirty="0"/>
              <a:t>A new customer could complete the registration form, create an account, register a boat, and have the information written correctly to the database. The Registration test plan specifically covered both the live password checklist and account creation in the database</a:t>
            </a:r>
            <a:r>
              <a:rPr lang="en-US" sz="1050" dirty="0">
                <a:solidFill>
                  <a:srgbClr val="000000"/>
                </a:solidFill>
                <a:latin typeface="Calibri" pitchFamily="34" charset="0"/>
                <a:ea typeface="Calibri" pitchFamily="34" charset="-122"/>
                <a:cs typeface="Calibri" pitchFamily="34" charset="-120"/>
              </a:rPr>
              <a:t>. </a:t>
            </a:r>
            <a:endParaRPr lang="en-US" sz="1050" dirty="0"/>
          </a:p>
        </p:txBody>
      </p:sp>
      <p:sp>
        <p:nvSpPr>
          <p:cNvPr id="13" name="TextBox 12">
            <a:extLst>
              <a:ext uri="{FF2B5EF4-FFF2-40B4-BE49-F238E27FC236}">
                <a16:creationId xmlns:a16="http://schemas.microsoft.com/office/drawing/2014/main" id="{E8101233-9DE5-2085-AD47-BDAAA4DB6CF7}"/>
              </a:ext>
            </a:extLst>
          </p:cNvPr>
          <p:cNvSpPr txBox="1"/>
          <p:nvPr/>
        </p:nvSpPr>
        <p:spPr>
          <a:xfrm>
            <a:off x="667830" y="1710398"/>
            <a:ext cx="4154379" cy="2893100"/>
          </a:xfrm>
          <a:prstGeom prst="rect">
            <a:avLst/>
          </a:prstGeom>
          <a:noFill/>
        </p:spPr>
        <p:txBody>
          <a:bodyPr wrap="square" rtlCol="0">
            <a:spAutoFit/>
          </a:bodyPr>
          <a:lstStyle/>
          <a:p>
            <a:r>
              <a:rPr lang="en-US" sz="1400" b="1" dirty="0">
                <a:solidFill>
                  <a:srgbClr val="F4A261"/>
                </a:solidFill>
              </a:rPr>
              <a:t>Test process:</a:t>
            </a:r>
            <a:endParaRPr lang="en-US" sz="1400" dirty="0">
              <a:solidFill>
                <a:srgbClr val="F4A261"/>
              </a:solidFill>
            </a:endParaRPr>
          </a:p>
          <a:p>
            <a:pPr marL="228600" lvl="0" indent="-228600">
              <a:buFont typeface="+mj-lt"/>
              <a:buAutoNum type="arabicPeriod"/>
            </a:pPr>
            <a:r>
              <a:rPr lang="en-US" sz="1000" dirty="0"/>
              <a:t>Enter personal information, phone number, address, and country.</a:t>
            </a:r>
          </a:p>
          <a:p>
            <a:pPr marL="228600" lvl="0" indent="-228600">
              <a:buFont typeface="+mj-lt"/>
              <a:buAutoNum type="arabicPeriod"/>
            </a:pPr>
            <a:r>
              <a:rPr lang="en-US" sz="1000" dirty="0"/>
              <a:t>Enter boat information, including the registration number.</a:t>
            </a:r>
          </a:p>
          <a:p>
            <a:pPr marL="228600" lvl="0" indent="-228600">
              <a:buFont typeface="+mj-lt"/>
              <a:buAutoNum type="arabicPeriod"/>
            </a:pPr>
            <a:r>
              <a:rPr lang="en-US" sz="1000" dirty="0"/>
              <a:t>Enter a valid email and password.</a:t>
            </a:r>
          </a:p>
          <a:p>
            <a:pPr marL="228600" lvl="0" indent="-228600">
              <a:buFont typeface="+mj-lt"/>
              <a:buAutoNum type="arabicPeriod"/>
            </a:pPr>
            <a:r>
              <a:rPr lang="en-US" sz="1000" dirty="0"/>
              <a:t>Verify that the </a:t>
            </a:r>
            <a:r>
              <a:rPr lang="en-US" sz="1000" b="1" dirty="0"/>
              <a:t>Create Account</a:t>
            </a:r>
            <a:r>
              <a:rPr lang="en-US" sz="1000" dirty="0"/>
              <a:t> button becomes available.</a:t>
            </a:r>
          </a:p>
          <a:p>
            <a:pPr marL="228600" lvl="0" indent="-228600">
              <a:buFont typeface="+mj-lt"/>
              <a:buAutoNum type="arabicPeriod"/>
            </a:pPr>
            <a:r>
              <a:rPr lang="en-US" sz="1000" dirty="0"/>
              <a:t>Submit the registration.</a:t>
            </a:r>
          </a:p>
          <a:p>
            <a:pPr marL="228600" lvl="0" indent="-228600">
              <a:buFont typeface="+mj-lt"/>
              <a:buAutoNum type="arabicPeriod"/>
            </a:pPr>
            <a:r>
              <a:rPr lang="en-US" sz="1000" dirty="0"/>
              <a:t>Query MySQL for the new Customer and Boat records. </a:t>
            </a:r>
          </a:p>
          <a:p>
            <a:pPr marL="228600" lvl="0" indent="-228600">
              <a:buFont typeface="+mj-lt"/>
              <a:buAutoNum type="arabicPeriod"/>
            </a:pPr>
            <a:endParaRPr lang="en-US" sz="1000" dirty="0"/>
          </a:p>
          <a:p>
            <a:r>
              <a:rPr lang="en-US" sz="1400" b="1" dirty="0">
                <a:solidFill>
                  <a:srgbClr val="F4A261"/>
                </a:solidFill>
              </a:rPr>
              <a:t>Expected result:</a:t>
            </a:r>
            <a:br>
              <a:rPr lang="en-US" sz="1000" dirty="0"/>
            </a:br>
            <a:r>
              <a:rPr lang="en-US" sz="1000" dirty="0"/>
              <a:t>The account should be created successfully, the customer should be redirected after registration, and the database should contain the new customer and boat.</a:t>
            </a:r>
          </a:p>
          <a:p>
            <a:endParaRPr lang="en-US" sz="1000" dirty="0"/>
          </a:p>
          <a:p>
            <a:r>
              <a:rPr lang="en-US" sz="1400" b="1" dirty="0">
                <a:solidFill>
                  <a:srgbClr val="F4A261"/>
                </a:solidFill>
              </a:rPr>
              <a:t>Actual result:</a:t>
            </a:r>
            <a:br>
              <a:rPr lang="en-US" sz="1000" dirty="0"/>
            </a:br>
            <a:r>
              <a:rPr lang="en-US" sz="1000" dirty="0"/>
              <a:t>Passed - The database check confirmed the Customer and Boat rows were created, and the peer tester also verified that a </a:t>
            </a:r>
            <a:r>
              <a:rPr lang="en-US" sz="1000" dirty="0" err="1"/>
              <a:t>BoatOwnership</a:t>
            </a:r>
            <a:r>
              <a:rPr lang="en-US" sz="1000" dirty="0"/>
              <a:t> row linked the new customer to the boat.</a:t>
            </a:r>
          </a:p>
        </p:txBody>
      </p:sp>
      <p:pic>
        <p:nvPicPr>
          <p:cNvPr id="23" name="Picture 22">
            <a:extLst>
              <a:ext uri="{FF2B5EF4-FFF2-40B4-BE49-F238E27FC236}">
                <a16:creationId xmlns:a16="http://schemas.microsoft.com/office/drawing/2014/main" id="{A5AE2A9D-7D18-6696-FEBC-7FB4BAF5955F}"/>
              </a:ext>
            </a:extLst>
          </p:cNvPr>
          <p:cNvPicPr>
            <a:picLocks noChangeAspect="1"/>
          </p:cNvPicPr>
          <p:nvPr/>
        </p:nvPicPr>
        <p:blipFill>
          <a:blip r:embed="rId3"/>
          <a:srcRect l="20107" t="11501" r="20900"/>
          <a:stretch>
            <a:fillRect/>
          </a:stretch>
        </p:blipFill>
        <p:spPr>
          <a:xfrm>
            <a:off x="5202520" y="1798036"/>
            <a:ext cx="2916516" cy="229390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2: Reservation- Booking Through Reservation Summary </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
        <p:nvSpPr>
          <p:cNvPr id="7" name="Shape 1">
            <a:extLst>
              <a:ext uri="{FF2B5EF4-FFF2-40B4-BE49-F238E27FC236}">
                <a16:creationId xmlns:a16="http://schemas.microsoft.com/office/drawing/2014/main" id="{05B81C69-1E2B-794F-B1A1-F06E965FDC32}"/>
              </a:ext>
            </a:extLst>
          </p:cNvPr>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9" name="Text 2">
            <a:extLst>
              <a:ext uri="{FF2B5EF4-FFF2-40B4-BE49-F238E27FC236}">
                <a16:creationId xmlns:a16="http://schemas.microsoft.com/office/drawing/2014/main" id="{DB66F15A-1104-85F8-A536-DF1505399990}"/>
              </a:ext>
            </a:extLst>
          </p:cNvPr>
          <p:cNvSpPr txBox="1"/>
          <p:nvPr/>
        </p:nvSpPr>
        <p:spPr>
          <a:xfrm>
            <a:off x="731520" y="1195091"/>
            <a:ext cx="7680960" cy="412162"/>
          </a:xfrm>
          <a:prstGeom prst="rect">
            <a:avLst/>
          </a:prstGeom>
          <a:noFill/>
          <a:ln/>
        </p:spPr>
        <p:txBody>
          <a:bodyPr wrap="square" lIns="0" tIns="0" rIns="0" bIns="0" rtlCol="0" anchor="t"/>
          <a:lstStyle/>
          <a:p>
            <a:r>
              <a:rPr lang="en-US" sz="1400" b="1" dirty="0">
                <a:solidFill>
                  <a:srgbClr val="F4A261"/>
                </a:solidFill>
                <a:latin typeface="Calibri" pitchFamily="34" charset="0"/>
                <a:ea typeface="Calibri" pitchFamily="34" charset="-122"/>
                <a:cs typeface="Calibri" pitchFamily="34" charset="-120"/>
              </a:rPr>
              <a:t>What we tested: </a:t>
            </a:r>
            <a:r>
              <a:rPr lang="en-US" sz="1050" dirty="0">
                <a:solidFill>
                  <a:schemeClr val="tx1">
                    <a:lumMod val="85000"/>
                    <a:lumOff val="15000"/>
                  </a:schemeClr>
                </a:solidFill>
              </a:rPr>
              <a:t>A customer could select a boat and available slip, complete a reservation, see the same information on Reservation Summary, and have the booking written correctly to MySQL.</a:t>
            </a:r>
            <a:r>
              <a:rPr lang="en-US" sz="1050" dirty="0">
                <a:solidFill>
                  <a:schemeClr val="tx1">
                    <a:lumMod val="85000"/>
                    <a:lumOff val="15000"/>
                  </a:schemeClr>
                </a:solidFill>
                <a:latin typeface="Calibri" pitchFamily="34" charset="0"/>
                <a:ea typeface="Calibri" pitchFamily="34" charset="-122"/>
                <a:cs typeface="Calibri" pitchFamily="34" charset="-120"/>
              </a:rPr>
              <a:t> </a:t>
            </a:r>
            <a:endParaRPr lang="en-US" sz="1050" dirty="0">
              <a:solidFill>
                <a:schemeClr val="tx1">
                  <a:lumMod val="85000"/>
                  <a:lumOff val="15000"/>
                </a:schemeClr>
              </a:solidFill>
            </a:endParaRPr>
          </a:p>
        </p:txBody>
      </p:sp>
      <p:sp>
        <p:nvSpPr>
          <p:cNvPr id="11" name="TextBox 10">
            <a:extLst>
              <a:ext uri="{FF2B5EF4-FFF2-40B4-BE49-F238E27FC236}">
                <a16:creationId xmlns:a16="http://schemas.microsoft.com/office/drawing/2014/main" id="{1E94D747-99EA-85F8-B6D4-181D7A709289}"/>
              </a:ext>
            </a:extLst>
          </p:cNvPr>
          <p:cNvSpPr txBox="1"/>
          <p:nvPr/>
        </p:nvSpPr>
        <p:spPr>
          <a:xfrm>
            <a:off x="667830" y="1545297"/>
            <a:ext cx="4154379" cy="3108543"/>
          </a:xfrm>
          <a:prstGeom prst="rect">
            <a:avLst/>
          </a:prstGeom>
          <a:noFill/>
        </p:spPr>
        <p:txBody>
          <a:bodyPr wrap="square" rtlCol="0">
            <a:spAutoFit/>
          </a:bodyPr>
          <a:lstStyle/>
          <a:p>
            <a:r>
              <a:rPr lang="en-US" sz="1400" b="1" dirty="0">
                <a:solidFill>
                  <a:srgbClr val="F4A261"/>
                </a:solidFill>
              </a:rPr>
              <a:t>Test process:</a:t>
            </a:r>
            <a:endParaRPr lang="en-US" sz="1400" dirty="0">
              <a:solidFill>
                <a:srgbClr val="F4A261"/>
              </a:solidFill>
            </a:endParaRPr>
          </a:p>
          <a:p>
            <a:pPr marL="228600" lvl="0" indent="-228600">
              <a:buFont typeface="+mj-lt"/>
              <a:buAutoNum type="arabicPeriod"/>
            </a:pPr>
            <a:r>
              <a:rPr lang="en-US" sz="1000" dirty="0"/>
              <a:t>Sign in and open </a:t>
            </a:r>
            <a:r>
              <a:rPr lang="en-US" sz="1000" b="1" dirty="0"/>
              <a:t>Book a Slip</a:t>
            </a:r>
            <a:r>
              <a:rPr lang="en-US" sz="1000" dirty="0"/>
              <a:t>.</a:t>
            </a:r>
          </a:p>
          <a:p>
            <a:pPr marL="228600" lvl="0" indent="-228600">
              <a:buFont typeface="+mj-lt"/>
              <a:buAutoNum type="arabicPeriod"/>
            </a:pPr>
            <a:r>
              <a:rPr lang="en-US" sz="1000" dirty="0"/>
              <a:t>Select the test vessel.</a:t>
            </a:r>
          </a:p>
          <a:p>
            <a:pPr marL="228600" lvl="0" indent="-228600">
              <a:buFont typeface="+mj-lt"/>
              <a:buAutoNum type="arabicPeriod"/>
            </a:pPr>
            <a:r>
              <a:rPr lang="en-US" sz="1000" dirty="0"/>
              <a:t>Verify the correct slip size is matched to the boat.</a:t>
            </a:r>
          </a:p>
          <a:p>
            <a:pPr marL="228600" lvl="0" indent="-228600">
              <a:buFont typeface="+mj-lt"/>
              <a:buAutoNum type="arabicPeriod"/>
            </a:pPr>
            <a:r>
              <a:rPr lang="en-US" sz="1000" dirty="0"/>
              <a:t>Select Dock A, electric hookup, and a start date.</a:t>
            </a:r>
          </a:p>
          <a:p>
            <a:pPr marL="228600" lvl="0" indent="-228600">
              <a:buFont typeface="+mj-lt"/>
              <a:buAutoNum type="arabicPeriod"/>
            </a:pPr>
            <a:r>
              <a:rPr lang="en-US" sz="1000" dirty="0"/>
              <a:t>Confirm the Reservation Summary updates to the selected values.</a:t>
            </a:r>
          </a:p>
          <a:p>
            <a:pPr marL="228600" lvl="0" indent="-228600">
              <a:buFont typeface="+mj-lt"/>
              <a:buAutoNum type="arabicPeriod"/>
            </a:pPr>
            <a:r>
              <a:rPr lang="en-US" sz="1000" dirty="0"/>
              <a:t>Click </a:t>
            </a:r>
            <a:r>
              <a:rPr lang="en-US" sz="1000" b="1" dirty="0"/>
              <a:t>Reserve My Slip</a:t>
            </a:r>
            <a:r>
              <a:rPr lang="en-US" sz="1000" dirty="0"/>
              <a:t>.</a:t>
            </a:r>
          </a:p>
          <a:p>
            <a:pPr marL="228600" lvl="0" indent="-228600">
              <a:buFont typeface="+mj-lt"/>
              <a:buAutoNum type="arabicPeriod"/>
            </a:pPr>
            <a:r>
              <a:rPr lang="en-US" sz="1000" dirty="0"/>
              <a:t>Verify the Reservation Summary page shows the same boat, dock, date, hookup, and rate.</a:t>
            </a:r>
          </a:p>
          <a:p>
            <a:pPr lvl="0"/>
            <a:endParaRPr lang="en-US" sz="1400" dirty="0"/>
          </a:p>
          <a:p>
            <a:r>
              <a:rPr lang="en-US" sz="1400" b="1" dirty="0">
                <a:solidFill>
                  <a:srgbClr val="F4A261"/>
                </a:solidFill>
              </a:rPr>
              <a:t>Expected result:</a:t>
            </a:r>
            <a:br>
              <a:rPr lang="en-US" sz="1000" dirty="0"/>
            </a:br>
            <a:r>
              <a:rPr lang="en-US" sz="1000" dirty="0"/>
              <a:t>The information shown while setting a reservation should match the final Reservation Summary.</a:t>
            </a:r>
          </a:p>
          <a:p>
            <a:endParaRPr lang="en-US" sz="1000" dirty="0"/>
          </a:p>
          <a:p>
            <a:r>
              <a:rPr lang="en-US" sz="1400" b="1" dirty="0">
                <a:solidFill>
                  <a:srgbClr val="F4A261"/>
                </a:solidFill>
              </a:rPr>
              <a:t>Actual result:</a:t>
            </a:r>
            <a:br>
              <a:rPr lang="en-US" sz="1000" dirty="0"/>
            </a:br>
            <a:r>
              <a:rPr lang="en-US" sz="1000" dirty="0"/>
              <a:t>Passed - The test verified the new boat, current </a:t>
            </a:r>
            <a:r>
              <a:rPr lang="en-US" sz="1000" dirty="0" err="1"/>
              <a:t>BoatOwnership</a:t>
            </a:r>
            <a:r>
              <a:rPr lang="en-US" sz="1000" dirty="0"/>
              <a:t>, and an Active Reservation record in MySQL. The reservation rate also matched the total shown on the Reservation Summary page.</a:t>
            </a:r>
          </a:p>
        </p:txBody>
      </p:sp>
      <p:pic>
        <p:nvPicPr>
          <p:cNvPr id="19" name="Picture 18">
            <a:extLst>
              <a:ext uri="{FF2B5EF4-FFF2-40B4-BE49-F238E27FC236}">
                <a16:creationId xmlns:a16="http://schemas.microsoft.com/office/drawing/2014/main" id="{18CCCE32-BF69-6A90-0B63-63E170F93062}"/>
              </a:ext>
            </a:extLst>
          </p:cNvPr>
          <p:cNvPicPr>
            <a:picLocks noChangeAspect="1"/>
          </p:cNvPicPr>
          <p:nvPr/>
        </p:nvPicPr>
        <p:blipFill>
          <a:blip r:embed="rId3"/>
          <a:stretch>
            <a:fillRect/>
          </a:stretch>
        </p:blipFill>
        <p:spPr>
          <a:xfrm>
            <a:off x="5096529" y="1448040"/>
            <a:ext cx="2955230" cy="1512051"/>
          </a:xfrm>
          <a:prstGeom prst="rect">
            <a:avLst/>
          </a:prstGeom>
        </p:spPr>
      </p:pic>
      <p:pic>
        <p:nvPicPr>
          <p:cNvPr id="21" name="Picture 20">
            <a:extLst>
              <a:ext uri="{FF2B5EF4-FFF2-40B4-BE49-F238E27FC236}">
                <a16:creationId xmlns:a16="http://schemas.microsoft.com/office/drawing/2014/main" id="{377DC26D-3C23-D34A-A886-88840234886D}"/>
              </a:ext>
            </a:extLst>
          </p:cNvPr>
          <p:cNvPicPr>
            <a:picLocks noChangeAspect="1"/>
          </p:cNvPicPr>
          <p:nvPr/>
        </p:nvPicPr>
        <p:blipFill>
          <a:blip r:embed="rId4"/>
          <a:stretch>
            <a:fillRect/>
          </a:stretch>
        </p:blipFill>
        <p:spPr>
          <a:xfrm>
            <a:off x="5096529" y="3018553"/>
            <a:ext cx="2917904" cy="150772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3: About Us – Navigation and Page Display </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
        <p:nvSpPr>
          <p:cNvPr id="7" name="Shape 1">
            <a:extLst>
              <a:ext uri="{FF2B5EF4-FFF2-40B4-BE49-F238E27FC236}">
                <a16:creationId xmlns:a16="http://schemas.microsoft.com/office/drawing/2014/main" id="{F8AEA4B5-5493-5BCA-8A94-924F1B465484}"/>
              </a:ext>
            </a:extLst>
          </p:cNvPr>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9" name="Text 2">
            <a:extLst>
              <a:ext uri="{FF2B5EF4-FFF2-40B4-BE49-F238E27FC236}">
                <a16:creationId xmlns:a16="http://schemas.microsoft.com/office/drawing/2014/main" id="{AAF68931-35FB-FFBD-6B69-3E3055C9B9C1}"/>
              </a:ext>
            </a:extLst>
          </p:cNvPr>
          <p:cNvSpPr txBox="1"/>
          <p:nvPr/>
        </p:nvSpPr>
        <p:spPr>
          <a:xfrm>
            <a:off x="731520" y="1195091"/>
            <a:ext cx="7680960" cy="412162"/>
          </a:xfrm>
          <a:prstGeom prst="rect">
            <a:avLst/>
          </a:prstGeom>
          <a:noFill/>
          <a:ln/>
        </p:spPr>
        <p:txBody>
          <a:bodyPr wrap="square" lIns="0" tIns="0" rIns="0" bIns="0" rtlCol="0" anchor="t"/>
          <a:lstStyle/>
          <a:p>
            <a:r>
              <a:rPr lang="en-US" sz="1400" b="1" dirty="0">
                <a:solidFill>
                  <a:srgbClr val="F4A261"/>
                </a:solidFill>
                <a:latin typeface="Calibri" pitchFamily="34" charset="0"/>
                <a:ea typeface="Calibri" pitchFamily="34" charset="-122"/>
                <a:cs typeface="Calibri" pitchFamily="34" charset="-120"/>
              </a:rPr>
              <a:t>What we tested: </a:t>
            </a:r>
            <a:r>
              <a:rPr lang="en-US" sz="1050" dirty="0"/>
              <a:t>Verified that the About Us page loaded correctly, could be accessed while signed out, displayed its content and images properly, and allowed users to navigate to and from other pages.</a:t>
            </a:r>
            <a:r>
              <a:rPr lang="en-US" sz="1050" dirty="0">
                <a:solidFill>
                  <a:srgbClr val="000000"/>
                </a:solidFill>
                <a:latin typeface="Calibri" pitchFamily="34" charset="0"/>
                <a:ea typeface="Calibri" pitchFamily="34" charset="-122"/>
                <a:cs typeface="Calibri" pitchFamily="34" charset="-120"/>
              </a:rPr>
              <a:t> </a:t>
            </a:r>
            <a:endParaRPr lang="en-US" sz="1050" dirty="0"/>
          </a:p>
        </p:txBody>
      </p:sp>
      <p:sp>
        <p:nvSpPr>
          <p:cNvPr id="11" name="TextBox 10">
            <a:extLst>
              <a:ext uri="{FF2B5EF4-FFF2-40B4-BE49-F238E27FC236}">
                <a16:creationId xmlns:a16="http://schemas.microsoft.com/office/drawing/2014/main" id="{B9FB06FE-1320-B495-9809-65ABFFCACD96}"/>
              </a:ext>
            </a:extLst>
          </p:cNvPr>
          <p:cNvSpPr txBox="1"/>
          <p:nvPr/>
        </p:nvSpPr>
        <p:spPr>
          <a:xfrm>
            <a:off x="731520" y="1616111"/>
            <a:ext cx="4154379" cy="2739211"/>
          </a:xfrm>
          <a:prstGeom prst="rect">
            <a:avLst/>
          </a:prstGeom>
          <a:noFill/>
        </p:spPr>
        <p:txBody>
          <a:bodyPr wrap="square" rtlCol="0">
            <a:spAutoFit/>
          </a:bodyPr>
          <a:lstStyle/>
          <a:p>
            <a:r>
              <a:rPr lang="en-US" sz="1400" b="1" dirty="0">
                <a:solidFill>
                  <a:srgbClr val="F4A261"/>
                </a:solidFill>
              </a:rPr>
              <a:t>Test process:</a:t>
            </a:r>
            <a:endParaRPr lang="en-US" sz="1400" dirty="0">
              <a:solidFill>
                <a:srgbClr val="F4A261"/>
              </a:solidFill>
            </a:endParaRPr>
          </a:p>
          <a:p>
            <a:pPr marL="228600" lvl="0" indent="-228600">
              <a:buFont typeface="+mj-lt"/>
              <a:buAutoNum type="arabicPeriod"/>
            </a:pPr>
            <a:r>
              <a:rPr lang="en-US" sz="1000" dirty="0"/>
              <a:t>Open the About Us page.</a:t>
            </a:r>
          </a:p>
          <a:p>
            <a:pPr marL="228600" lvl="0" indent="-228600">
              <a:buFont typeface="+mj-lt"/>
              <a:buAutoNum type="arabicPeriod"/>
            </a:pPr>
            <a:r>
              <a:rPr lang="en-US" sz="1000" dirty="0"/>
              <a:t>Verify the header, footer, text, and images are consistent.</a:t>
            </a:r>
          </a:p>
          <a:p>
            <a:pPr marL="228600" lvl="0" indent="-228600">
              <a:buFont typeface="+mj-lt"/>
              <a:buAutoNum type="arabicPeriod"/>
            </a:pPr>
            <a:r>
              <a:rPr lang="en-US" sz="1000" dirty="0"/>
              <a:t>Use the logo to return to the landing page.</a:t>
            </a:r>
          </a:p>
          <a:p>
            <a:pPr marL="228600" lvl="0" indent="-228600">
              <a:buFont typeface="+mj-lt"/>
              <a:buAutoNum type="arabicPeriod"/>
            </a:pPr>
            <a:r>
              <a:rPr lang="en-US" sz="1000" dirty="0"/>
              <a:t>Navigate from About Us to another page such as Reservation.</a:t>
            </a:r>
          </a:p>
          <a:p>
            <a:pPr marL="228600" lvl="0" indent="-228600">
              <a:buFont typeface="+mj-lt"/>
              <a:buAutoNum type="arabicPeriod"/>
            </a:pPr>
            <a:r>
              <a:rPr lang="en-US" sz="1000" dirty="0"/>
              <a:t>Use the browser Back button and verify it returns to About Us.</a:t>
            </a:r>
          </a:p>
          <a:p>
            <a:pPr marL="228600" lvl="0" indent="-228600">
              <a:buFont typeface="+mj-lt"/>
              <a:buAutoNum type="arabicPeriod"/>
            </a:pPr>
            <a:r>
              <a:rPr lang="en-US" sz="1000" dirty="0"/>
              <a:t>Verify the page includes a Contact Us section.</a:t>
            </a:r>
          </a:p>
          <a:p>
            <a:pPr marL="228600" lvl="0" indent="-228600">
              <a:buFont typeface="+mj-lt"/>
              <a:buAutoNum type="arabicPeriod"/>
            </a:pPr>
            <a:endParaRPr lang="en-US" sz="1000" dirty="0"/>
          </a:p>
          <a:p>
            <a:r>
              <a:rPr lang="en-US" sz="1400" b="1" dirty="0">
                <a:solidFill>
                  <a:srgbClr val="F4A261"/>
                </a:solidFill>
              </a:rPr>
              <a:t>Expected result:</a:t>
            </a:r>
            <a:br>
              <a:rPr lang="en-US" sz="1000" dirty="0"/>
            </a:br>
            <a:r>
              <a:rPr lang="en-US" sz="1000" dirty="0"/>
              <a:t>The page should be publicly accessible, display all content and images correctly, include the Contact Us section, and allow users to navigate to and from the page without issues.</a:t>
            </a:r>
          </a:p>
          <a:p>
            <a:endParaRPr lang="en-US" sz="1000" dirty="0"/>
          </a:p>
          <a:p>
            <a:r>
              <a:rPr lang="en-US" sz="1400" b="1" dirty="0">
                <a:solidFill>
                  <a:srgbClr val="F4A261"/>
                </a:solidFill>
              </a:rPr>
              <a:t>Actual result:</a:t>
            </a:r>
            <a:br>
              <a:rPr lang="en-US" sz="1000" dirty="0"/>
            </a:br>
            <a:r>
              <a:rPr lang="en-US" sz="1000" dirty="0"/>
              <a:t>Passed- The About Us page remained publicly accessible, the contact information was consistent, and navigation worked without issues. </a:t>
            </a:r>
          </a:p>
        </p:txBody>
      </p:sp>
      <p:pic>
        <p:nvPicPr>
          <p:cNvPr id="21" name="Picture 20">
            <a:extLst>
              <a:ext uri="{FF2B5EF4-FFF2-40B4-BE49-F238E27FC236}">
                <a16:creationId xmlns:a16="http://schemas.microsoft.com/office/drawing/2014/main" id="{C72DCE31-8D0C-3534-E7EE-A010138B3645}"/>
              </a:ext>
            </a:extLst>
          </p:cNvPr>
          <p:cNvPicPr>
            <a:picLocks noChangeAspect="1"/>
          </p:cNvPicPr>
          <p:nvPr/>
        </p:nvPicPr>
        <p:blipFill>
          <a:blip r:embed="rId3"/>
          <a:stretch>
            <a:fillRect/>
          </a:stretch>
        </p:blipFill>
        <p:spPr>
          <a:xfrm>
            <a:off x="5032839" y="3080908"/>
            <a:ext cx="3023997" cy="1542790"/>
          </a:xfrm>
          <a:prstGeom prst="rect">
            <a:avLst/>
          </a:prstGeom>
        </p:spPr>
      </p:pic>
      <p:pic>
        <p:nvPicPr>
          <p:cNvPr id="23" name="Picture 22">
            <a:extLst>
              <a:ext uri="{FF2B5EF4-FFF2-40B4-BE49-F238E27FC236}">
                <a16:creationId xmlns:a16="http://schemas.microsoft.com/office/drawing/2014/main" id="{074B4BD4-3E69-ECBA-68F5-CEDD9F09FD8B}"/>
              </a:ext>
            </a:extLst>
          </p:cNvPr>
          <p:cNvPicPr>
            <a:picLocks noChangeAspect="1"/>
          </p:cNvPicPr>
          <p:nvPr/>
        </p:nvPicPr>
        <p:blipFill>
          <a:blip r:embed="rId4"/>
          <a:stretch>
            <a:fillRect/>
          </a:stretch>
        </p:blipFill>
        <p:spPr>
          <a:xfrm>
            <a:off x="5032839" y="1453277"/>
            <a:ext cx="3028783" cy="15878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4: Look Up Reservation- Customer Reservation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195091"/>
            <a:ext cx="7680960" cy="412162"/>
          </a:xfrm>
          <a:prstGeom prst="rect">
            <a:avLst/>
          </a:prstGeom>
          <a:noFill/>
          <a:ln/>
        </p:spPr>
        <p:txBody>
          <a:bodyPr wrap="square" lIns="0" tIns="0" rIns="0" bIns="0" rtlCol="0" anchor="t"/>
          <a:lstStyle/>
          <a:p>
            <a:r>
              <a:rPr lang="en-US" sz="1400" b="1" dirty="0">
                <a:solidFill>
                  <a:srgbClr val="F4A261"/>
                </a:solidFill>
                <a:latin typeface="Calibri" pitchFamily="34" charset="0"/>
                <a:ea typeface="Calibri" pitchFamily="34" charset="-122"/>
                <a:cs typeface="Calibri" pitchFamily="34" charset="-120"/>
              </a:rPr>
              <a:t>What we tested: </a:t>
            </a:r>
            <a:r>
              <a:rPr lang="en-US" sz="1050" dirty="0"/>
              <a:t>Verified that the Look Up Reservation backend returns reservations only when they belong to the signed-in customer.</a:t>
            </a:r>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05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
        <p:nvSpPr>
          <p:cNvPr id="6" name="TextBox 5">
            <a:extLst>
              <a:ext uri="{FF2B5EF4-FFF2-40B4-BE49-F238E27FC236}">
                <a16:creationId xmlns:a16="http://schemas.microsoft.com/office/drawing/2014/main" id="{EE6436AA-6D02-4283-5157-00AD9ADC4C92}"/>
              </a:ext>
            </a:extLst>
          </p:cNvPr>
          <p:cNvSpPr txBox="1"/>
          <p:nvPr/>
        </p:nvSpPr>
        <p:spPr>
          <a:xfrm>
            <a:off x="667830" y="1551876"/>
            <a:ext cx="4154379" cy="2893100"/>
          </a:xfrm>
          <a:prstGeom prst="rect">
            <a:avLst/>
          </a:prstGeom>
          <a:noFill/>
        </p:spPr>
        <p:txBody>
          <a:bodyPr wrap="square" rtlCol="0">
            <a:spAutoFit/>
          </a:bodyPr>
          <a:lstStyle/>
          <a:p>
            <a:r>
              <a:rPr lang="en-US" sz="1400" b="1" dirty="0">
                <a:solidFill>
                  <a:srgbClr val="F4A261"/>
                </a:solidFill>
              </a:rPr>
              <a:t>Test process:</a:t>
            </a:r>
            <a:endParaRPr lang="en-US" sz="1400" dirty="0">
              <a:solidFill>
                <a:srgbClr val="F4A261"/>
              </a:solidFill>
            </a:endParaRPr>
          </a:p>
          <a:p>
            <a:pPr marL="228600" lvl="0" indent="-228600">
              <a:buFont typeface="+mj-lt"/>
              <a:buAutoNum type="arabicPeriod"/>
            </a:pPr>
            <a:r>
              <a:rPr lang="en-US" sz="1000" dirty="0"/>
              <a:t>Sign in as Elena Marsh.</a:t>
            </a:r>
          </a:p>
          <a:p>
            <a:pPr marL="228600" lvl="0" indent="-228600">
              <a:buFont typeface="+mj-lt"/>
              <a:buAutoNum type="arabicPeriod"/>
            </a:pPr>
            <a:r>
              <a:rPr lang="en-US" sz="1000" dirty="0"/>
              <a:t>Search for Elena’s reservation MB-00001.</a:t>
            </a:r>
          </a:p>
          <a:p>
            <a:pPr marL="228600" lvl="0" indent="-228600">
              <a:buFont typeface="+mj-lt"/>
              <a:buAutoNum type="arabicPeriod"/>
            </a:pPr>
            <a:r>
              <a:rPr lang="en-US" sz="1000" dirty="0"/>
              <a:t>Verify that the correct reservation details are returned.</a:t>
            </a:r>
          </a:p>
          <a:p>
            <a:pPr marL="228600" lvl="0" indent="-228600">
              <a:buFont typeface="+mj-lt"/>
              <a:buAutoNum type="arabicPeriod"/>
            </a:pPr>
            <a:r>
              <a:rPr lang="en-US" sz="1000" dirty="0"/>
              <a:t>Search for reservation MB-00004, which belongs to another customer.</a:t>
            </a:r>
          </a:p>
          <a:p>
            <a:pPr marL="228600" lvl="0" indent="-228600">
              <a:buFont typeface="+mj-lt"/>
              <a:buAutoNum type="arabicPeriod"/>
            </a:pPr>
            <a:r>
              <a:rPr lang="en-US" sz="1000" dirty="0"/>
              <a:t>Confirm that the backend uses the signed-in customer’s session ID when searching.</a:t>
            </a:r>
          </a:p>
          <a:p>
            <a:pPr marL="228600" lvl="0" indent="-228600">
              <a:buFont typeface="+mj-lt"/>
              <a:buAutoNum type="arabicPeriod"/>
            </a:pPr>
            <a:r>
              <a:rPr lang="en-US" sz="1000" dirty="0"/>
              <a:t>Verify that the other customer’s reservation is not displayed.</a:t>
            </a:r>
          </a:p>
          <a:p>
            <a:pPr marL="228600" lvl="0" indent="-228600">
              <a:buFont typeface="+mj-lt"/>
              <a:buAutoNum type="arabicPeriod"/>
            </a:pPr>
            <a:endParaRPr lang="en-US" sz="1000" dirty="0"/>
          </a:p>
          <a:p>
            <a:r>
              <a:rPr lang="en-US" sz="1400" b="1" dirty="0">
                <a:solidFill>
                  <a:srgbClr val="F4A261"/>
                </a:solidFill>
              </a:rPr>
              <a:t>Expected result:</a:t>
            </a:r>
            <a:br>
              <a:rPr lang="en-US" sz="1000" dirty="0"/>
            </a:br>
            <a:r>
              <a:rPr lang="en-US" sz="1000" dirty="0"/>
              <a:t>Elena should be able to retrieve her own reservation, but a reservation belonging to another customer should return </a:t>
            </a:r>
            <a:r>
              <a:rPr lang="en-US" sz="1000" b="1" dirty="0"/>
              <a:t>“No reservation found.”</a:t>
            </a:r>
          </a:p>
          <a:p>
            <a:endParaRPr lang="en-US" sz="1000" dirty="0"/>
          </a:p>
          <a:p>
            <a:r>
              <a:rPr lang="en-US" sz="1400" b="1" dirty="0">
                <a:solidFill>
                  <a:srgbClr val="F4A261"/>
                </a:solidFill>
              </a:rPr>
              <a:t>Actual result:</a:t>
            </a:r>
            <a:br>
              <a:rPr lang="en-US" sz="1000" dirty="0"/>
            </a:br>
            <a:r>
              <a:rPr lang="en-US" sz="1000" dirty="0"/>
              <a:t>Passed - The lookup returned the signed-in customer’s reservation details correctly while using the session customer ID to block access to another customer’s reservation, returning </a:t>
            </a:r>
            <a:r>
              <a:rPr lang="en-US" sz="1000" b="1" dirty="0"/>
              <a:t>“No reservation found.”</a:t>
            </a:r>
            <a:endParaRPr lang="en-US" sz="1000" dirty="0"/>
          </a:p>
        </p:txBody>
      </p:sp>
      <p:pic>
        <p:nvPicPr>
          <p:cNvPr id="9" name="Picture 8">
            <a:extLst>
              <a:ext uri="{FF2B5EF4-FFF2-40B4-BE49-F238E27FC236}">
                <a16:creationId xmlns:a16="http://schemas.microsoft.com/office/drawing/2014/main" id="{E6836ACF-BD9C-5EE1-E5DD-AA2882D4B476}"/>
              </a:ext>
            </a:extLst>
          </p:cNvPr>
          <p:cNvPicPr>
            <a:picLocks noChangeAspect="1"/>
          </p:cNvPicPr>
          <p:nvPr/>
        </p:nvPicPr>
        <p:blipFill>
          <a:blip r:embed="rId3"/>
          <a:stretch>
            <a:fillRect/>
          </a:stretch>
        </p:blipFill>
        <p:spPr>
          <a:xfrm>
            <a:off x="5097304" y="1598047"/>
            <a:ext cx="3207777" cy="1597453"/>
          </a:xfrm>
          <a:prstGeom prst="rect">
            <a:avLst/>
          </a:prstGeom>
        </p:spPr>
      </p:pic>
      <p:pic>
        <p:nvPicPr>
          <p:cNvPr id="11" name="Picture 10">
            <a:extLst>
              <a:ext uri="{FF2B5EF4-FFF2-40B4-BE49-F238E27FC236}">
                <a16:creationId xmlns:a16="http://schemas.microsoft.com/office/drawing/2014/main" id="{1A6104CB-72F4-F000-67C9-6A93CF1F6C8A}"/>
              </a:ext>
            </a:extLst>
          </p:cNvPr>
          <p:cNvPicPr>
            <a:picLocks noChangeAspect="1"/>
          </p:cNvPicPr>
          <p:nvPr/>
        </p:nvPicPr>
        <p:blipFill>
          <a:blip r:embed="rId4"/>
          <a:stretch>
            <a:fillRect/>
          </a:stretch>
        </p:blipFill>
        <p:spPr>
          <a:xfrm>
            <a:off x="5097304" y="3209836"/>
            <a:ext cx="3207777" cy="708248"/>
          </a:xfrm>
          <a:prstGeom prst="rect">
            <a:avLst/>
          </a:prstGeom>
        </p:spPr>
      </p:pic>
      <p:pic>
        <p:nvPicPr>
          <p:cNvPr id="13" name="Picture 12">
            <a:extLst>
              <a:ext uri="{FF2B5EF4-FFF2-40B4-BE49-F238E27FC236}">
                <a16:creationId xmlns:a16="http://schemas.microsoft.com/office/drawing/2014/main" id="{A3D2DDEF-3C60-B5BB-EF06-91F125AB2D87}"/>
              </a:ext>
            </a:extLst>
          </p:cNvPr>
          <p:cNvPicPr>
            <a:picLocks noChangeAspect="1"/>
          </p:cNvPicPr>
          <p:nvPr/>
        </p:nvPicPr>
        <p:blipFill>
          <a:blip r:embed="rId5"/>
          <a:stretch>
            <a:fillRect/>
          </a:stretch>
        </p:blipFill>
        <p:spPr>
          <a:xfrm>
            <a:off x="5096529" y="3948409"/>
            <a:ext cx="3208552" cy="34920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Test 5: Wait List – Counts, Position, and Join Flow</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
        <p:nvSpPr>
          <p:cNvPr id="7" name="Shape 1">
            <a:extLst>
              <a:ext uri="{FF2B5EF4-FFF2-40B4-BE49-F238E27FC236}">
                <a16:creationId xmlns:a16="http://schemas.microsoft.com/office/drawing/2014/main" id="{5D8B0D76-44F0-CC5E-0865-517D7FF3DAB5}"/>
              </a:ext>
            </a:extLst>
          </p:cNvPr>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9" name="Text 2">
            <a:extLst>
              <a:ext uri="{FF2B5EF4-FFF2-40B4-BE49-F238E27FC236}">
                <a16:creationId xmlns:a16="http://schemas.microsoft.com/office/drawing/2014/main" id="{2AF30184-4E1C-1B22-FA6A-D9DCB6B636EE}"/>
              </a:ext>
            </a:extLst>
          </p:cNvPr>
          <p:cNvSpPr txBox="1"/>
          <p:nvPr/>
        </p:nvSpPr>
        <p:spPr>
          <a:xfrm>
            <a:off x="731520" y="1209023"/>
            <a:ext cx="7680960" cy="412162"/>
          </a:xfrm>
          <a:prstGeom prst="rect">
            <a:avLst/>
          </a:prstGeom>
          <a:noFill/>
          <a:ln/>
        </p:spPr>
        <p:txBody>
          <a:bodyPr wrap="square" lIns="0" tIns="0" rIns="0" bIns="0" rtlCol="0" anchor="t"/>
          <a:lstStyle/>
          <a:p>
            <a:r>
              <a:rPr lang="en-US" sz="1400" b="1" dirty="0">
                <a:solidFill>
                  <a:srgbClr val="F4A261"/>
                </a:solidFill>
                <a:latin typeface="Calibri" pitchFamily="34" charset="0"/>
                <a:ea typeface="Calibri" pitchFamily="34" charset="-122"/>
                <a:cs typeface="Calibri" pitchFamily="34" charset="-120"/>
              </a:rPr>
              <a:t>What we tested: </a:t>
            </a:r>
            <a:r>
              <a:rPr lang="en-US" sz="1050" dirty="0"/>
              <a:t>Verified that the Wait List displayed public slip-size information, showed the signed-in customer’s position in line, and updated both the public count and personal position after joining.</a:t>
            </a:r>
          </a:p>
        </p:txBody>
      </p:sp>
      <p:sp>
        <p:nvSpPr>
          <p:cNvPr id="11" name="TextBox 10">
            <a:extLst>
              <a:ext uri="{FF2B5EF4-FFF2-40B4-BE49-F238E27FC236}">
                <a16:creationId xmlns:a16="http://schemas.microsoft.com/office/drawing/2014/main" id="{389618C4-B754-FA97-1246-DD28BD879EF9}"/>
              </a:ext>
            </a:extLst>
          </p:cNvPr>
          <p:cNvSpPr txBox="1"/>
          <p:nvPr/>
        </p:nvSpPr>
        <p:spPr>
          <a:xfrm>
            <a:off x="667830" y="1603390"/>
            <a:ext cx="4154379" cy="2939266"/>
          </a:xfrm>
          <a:prstGeom prst="rect">
            <a:avLst/>
          </a:prstGeom>
          <a:noFill/>
        </p:spPr>
        <p:txBody>
          <a:bodyPr wrap="square" rtlCol="0">
            <a:spAutoFit/>
          </a:bodyPr>
          <a:lstStyle/>
          <a:p>
            <a:r>
              <a:rPr lang="en-US" sz="1400" b="1" dirty="0">
                <a:solidFill>
                  <a:srgbClr val="F4A261"/>
                </a:solidFill>
              </a:rPr>
              <a:t>Test process:</a:t>
            </a:r>
            <a:endParaRPr lang="en-US" sz="1400" dirty="0">
              <a:solidFill>
                <a:srgbClr val="F4A261"/>
              </a:solidFill>
            </a:endParaRPr>
          </a:p>
          <a:p>
            <a:pPr marL="228600" lvl="0" indent="-228600">
              <a:buFont typeface="+mj-lt"/>
              <a:buAutoNum type="arabicPeriod"/>
            </a:pPr>
            <a:r>
              <a:rPr lang="en-US" sz="1000" dirty="0"/>
              <a:t>Open the Wait List while signed out.</a:t>
            </a:r>
          </a:p>
          <a:p>
            <a:pPr marL="228600" lvl="0" indent="-228600">
              <a:buFont typeface="+mj-lt"/>
              <a:buAutoNum type="arabicPeriod"/>
            </a:pPr>
            <a:r>
              <a:rPr lang="en-US" sz="1000" dirty="0"/>
              <a:t>Verify all slip sizes display with the correct number of guests waiting.</a:t>
            </a:r>
          </a:p>
          <a:p>
            <a:pPr marL="228600" lvl="0" indent="-228600">
              <a:buFont typeface="+mj-lt"/>
              <a:buAutoNum type="arabicPeriod"/>
            </a:pPr>
            <a:r>
              <a:rPr lang="en-US" sz="1000" dirty="0"/>
              <a:t>Sign in and verify the customer’s position and number of people ahead.</a:t>
            </a:r>
          </a:p>
          <a:p>
            <a:pPr marL="228600" lvl="0" indent="-228600">
              <a:buFont typeface="+mj-lt"/>
              <a:buAutoNum type="arabicPeriod"/>
            </a:pPr>
            <a:r>
              <a:rPr lang="en-US" sz="1000" dirty="0"/>
              <a:t>Join the wait list from the Reservation page.</a:t>
            </a:r>
          </a:p>
          <a:p>
            <a:pPr marL="228600" lvl="0" indent="-228600">
              <a:buFont typeface="+mj-lt"/>
              <a:buAutoNum type="arabicPeriod"/>
            </a:pPr>
            <a:r>
              <a:rPr lang="en-US" sz="1000" dirty="0"/>
              <a:t>Confirm the public wait-list count increases and the customer’s position updates.</a:t>
            </a:r>
          </a:p>
          <a:p>
            <a:pPr lvl="0"/>
            <a:endParaRPr lang="en-US" sz="1000" dirty="0"/>
          </a:p>
          <a:p>
            <a:r>
              <a:rPr lang="en-US" sz="1400" b="1" dirty="0">
                <a:solidFill>
                  <a:srgbClr val="F4A261"/>
                </a:solidFill>
              </a:rPr>
              <a:t>Expected result:</a:t>
            </a:r>
            <a:br>
              <a:rPr lang="en-US" sz="1000" dirty="0"/>
            </a:br>
            <a:r>
              <a:rPr lang="en-US" sz="1000" dirty="0"/>
              <a:t>The public wait-list counts should match the database, signed-in customers should see only their own position, and joining the wait list should immediately update the page.</a:t>
            </a:r>
          </a:p>
          <a:p>
            <a:endParaRPr lang="en-US" sz="1400" dirty="0"/>
          </a:p>
          <a:p>
            <a:r>
              <a:rPr lang="en-US" sz="1400" b="1" dirty="0">
                <a:solidFill>
                  <a:srgbClr val="F4A261"/>
                </a:solidFill>
              </a:rPr>
              <a:t>Actual result:</a:t>
            </a:r>
            <a:br>
              <a:rPr lang="en-US" sz="1000" dirty="0"/>
            </a:br>
            <a:r>
              <a:rPr lang="en-US" sz="1000" dirty="0"/>
              <a:t>Passed - The public wait-list counts matched the database, signed-in customers saw the correct position and number of people ahead, and joining the wait list created a new Waiting record and updated the page correctly.</a:t>
            </a:r>
          </a:p>
        </p:txBody>
      </p:sp>
      <p:pic>
        <p:nvPicPr>
          <p:cNvPr id="19" name="Picture 18">
            <a:extLst>
              <a:ext uri="{FF2B5EF4-FFF2-40B4-BE49-F238E27FC236}">
                <a16:creationId xmlns:a16="http://schemas.microsoft.com/office/drawing/2014/main" id="{BB709B90-BDB3-13DA-D614-2D2BBDA8728A}"/>
              </a:ext>
            </a:extLst>
          </p:cNvPr>
          <p:cNvPicPr>
            <a:picLocks noChangeAspect="1"/>
          </p:cNvPicPr>
          <p:nvPr/>
        </p:nvPicPr>
        <p:blipFill>
          <a:blip r:embed="rId3"/>
          <a:stretch>
            <a:fillRect/>
          </a:stretch>
        </p:blipFill>
        <p:spPr>
          <a:xfrm>
            <a:off x="5187575" y="3090793"/>
            <a:ext cx="3015128" cy="1513959"/>
          </a:xfrm>
          <a:prstGeom prst="rect">
            <a:avLst/>
          </a:prstGeom>
        </p:spPr>
      </p:pic>
      <p:pic>
        <p:nvPicPr>
          <p:cNvPr id="23" name="Picture 22">
            <a:extLst>
              <a:ext uri="{FF2B5EF4-FFF2-40B4-BE49-F238E27FC236}">
                <a16:creationId xmlns:a16="http://schemas.microsoft.com/office/drawing/2014/main" id="{FECD0D6A-382F-63FF-64FA-94467CB0D364}"/>
              </a:ext>
            </a:extLst>
          </p:cNvPr>
          <p:cNvPicPr>
            <a:picLocks noChangeAspect="1"/>
          </p:cNvPicPr>
          <p:nvPr/>
        </p:nvPicPr>
        <p:blipFill>
          <a:blip r:embed="rId4"/>
          <a:stretch>
            <a:fillRect/>
          </a:stretch>
        </p:blipFill>
        <p:spPr>
          <a:xfrm>
            <a:off x="5187575" y="1420803"/>
            <a:ext cx="3015128" cy="163581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What Testing Caught</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27545"/>
            <a:ext cx="7680960" cy="3200400"/>
          </a:xfrm>
          <a:prstGeom prst="rect">
            <a:avLst/>
          </a:prstGeom>
          <a:noFill/>
          <a:ln/>
        </p:spPr>
        <p:txBody>
          <a:bodyPr wrap="square" lIns="0" tIns="0" rIns="0" bIns="0" rtlCol="0" anchor="t"/>
          <a:lstStyle/>
          <a:p>
            <a:r>
              <a:rPr lang="en-US" sz="1400" dirty="0"/>
              <a:t>Testing helped us catch user feedback, navigation, responsive-design, and integration issues before the final version.</a:t>
            </a:r>
          </a:p>
          <a:p>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graphicFrame>
        <p:nvGraphicFramePr>
          <p:cNvPr id="26" name="Diagram 25">
            <a:extLst>
              <a:ext uri="{FF2B5EF4-FFF2-40B4-BE49-F238E27FC236}">
                <a16:creationId xmlns:a16="http://schemas.microsoft.com/office/drawing/2014/main" id="{3C25E0EC-5B7D-350D-99EC-FFA60A60C4AA}"/>
              </a:ext>
            </a:extLst>
          </p:cNvPr>
          <p:cNvGraphicFramePr/>
          <p:nvPr>
            <p:extLst>
              <p:ext uri="{D42A27DB-BD31-4B8C-83A1-F6EECF244321}">
                <p14:modId xmlns:p14="http://schemas.microsoft.com/office/powerpoint/2010/main" val="1780793695"/>
              </p:ext>
            </p:extLst>
          </p:nvPr>
        </p:nvGraphicFramePr>
        <p:xfrm>
          <a:off x="4912360" y="840014"/>
          <a:ext cx="1714138" cy="2874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3" name="Table 32">
            <a:extLst>
              <a:ext uri="{FF2B5EF4-FFF2-40B4-BE49-F238E27FC236}">
                <a16:creationId xmlns:a16="http://schemas.microsoft.com/office/drawing/2014/main" id="{81347688-982A-097F-A318-43DAEC84A0E3}"/>
              </a:ext>
            </a:extLst>
          </p:cNvPr>
          <p:cNvGraphicFramePr>
            <a:graphicFrameLocks noGrp="1"/>
          </p:cNvGraphicFramePr>
          <p:nvPr>
            <p:extLst>
              <p:ext uri="{D42A27DB-BD31-4B8C-83A1-F6EECF244321}">
                <p14:modId xmlns:p14="http://schemas.microsoft.com/office/powerpoint/2010/main" val="1061807793"/>
              </p:ext>
            </p:extLst>
          </p:nvPr>
        </p:nvGraphicFramePr>
        <p:xfrm>
          <a:off x="766038" y="1793183"/>
          <a:ext cx="7611924" cy="2668181"/>
        </p:xfrm>
        <a:graphic>
          <a:graphicData uri="http://schemas.openxmlformats.org/drawingml/2006/table">
            <a:tbl>
              <a:tblPr firstRow="1" bandRow="1">
                <a:tableStyleId>{5C22544A-7EE6-4342-B048-85BDC9FD1C3A}</a:tableStyleId>
              </a:tblPr>
              <a:tblGrid>
                <a:gridCol w="1902981">
                  <a:extLst>
                    <a:ext uri="{9D8B030D-6E8A-4147-A177-3AD203B41FA5}">
                      <a16:colId xmlns:a16="http://schemas.microsoft.com/office/drawing/2014/main" val="2492512907"/>
                    </a:ext>
                  </a:extLst>
                </a:gridCol>
                <a:gridCol w="1902981">
                  <a:extLst>
                    <a:ext uri="{9D8B030D-6E8A-4147-A177-3AD203B41FA5}">
                      <a16:colId xmlns:a16="http://schemas.microsoft.com/office/drawing/2014/main" val="4181219797"/>
                    </a:ext>
                  </a:extLst>
                </a:gridCol>
                <a:gridCol w="1902981">
                  <a:extLst>
                    <a:ext uri="{9D8B030D-6E8A-4147-A177-3AD203B41FA5}">
                      <a16:colId xmlns:a16="http://schemas.microsoft.com/office/drawing/2014/main" val="3140688024"/>
                    </a:ext>
                  </a:extLst>
                </a:gridCol>
                <a:gridCol w="1902981">
                  <a:extLst>
                    <a:ext uri="{9D8B030D-6E8A-4147-A177-3AD203B41FA5}">
                      <a16:colId xmlns:a16="http://schemas.microsoft.com/office/drawing/2014/main" val="2740575583"/>
                    </a:ext>
                  </a:extLst>
                </a:gridCol>
              </a:tblGrid>
              <a:tr h="271381">
                <a:tc>
                  <a:txBody>
                    <a:bodyPr/>
                    <a:lstStyle/>
                    <a:p>
                      <a:r>
                        <a:rPr lang="en-US" sz="1400" dirty="0">
                          <a:solidFill>
                            <a:srgbClr val="F4A261"/>
                          </a:solidFill>
                        </a:rPr>
                        <a:t>Registration</a:t>
                      </a:r>
                    </a:p>
                  </a:txBody>
                  <a:tcPr>
                    <a:solidFill>
                      <a:srgbClr val="0D3B4D"/>
                    </a:solidFill>
                  </a:tcPr>
                </a:tc>
                <a:tc>
                  <a:txBody>
                    <a:bodyPr/>
                    <a:lstStyle/>
                    <a:p>
                      <a:r>
                        <a:rPr lang="en-US" sz="1400" dirty="0">
                          <a:solidFill>
                            <a:srgbClr val="F4A261"/>
                          </a:solidFill>
                        </a:rPr>
                        <a:t>Reservation </a:t>
                      </a:r>
                    </a:p>
                  </a:txBody>
                  <a:tcPr>
                    <a:solidFill>
                      <a:srgbClr val="0D3B4D"/>
                    </a:solidFill>
                  </a:tcPr>
                </a:tc>
                <a:tc>
                  <a:txBody>
                    <a:bodyPr/>
                    <a:lstStyle/>
                    <a:p>
                      <a:r>
                        <a:rPr lang="en-US" sz="1400" dirty="0">
                          <a:solidFill>
                            <a:srgbClr val="F4A261"/>
                          </a:solidFill>
                        </a:rPr>
                        <a:t>About Us</a:t>
                      </a:r>
                    </a:p>
                  </a:txBody>
                  <a:tcPr>
                    <a:solidFill>
                      <a:srgbClr val="0D3B4D"/>
                    </a:solidFill>
                  </a:tcPr>
                </a:tc>
                <a:tc>
                  <a:txBody>
                    <a:bodyPr/>
                    <a:lstStyle/>
                    <a:p>
                      <a:r>
                        <a:rPr lang="en-US" sz="1400" dirty="0">
                          <a:solidFill>
                            <a:srgbClr val="F4A261"/>
                          </a:solidFill>
                        </a:rPr>
                        <a:t>Waitlist </a:t>
                      </a:r>
                    </a:p>
                  </a:txBody>
                  <a:tcPr>
                    <a:solidFill>
                      <a:srgbClr val="0D3B4D"/>
                    </a:solidFill>
                  </a:tcPr>
                </a:tc>
                <a:extLst>
                  <a:ext uri="{0D108BD9-81ED-4DB2-BD59-A6C34878D82A}">
                    <a16:rowId xmlns:a16="http://schemas.microsoft.com/office/drawing/2014/main" val="3557593831"/>
                  </a:ext>
                </a:extLst>
              </a:tr>
              <a:tr h="2363381">
                <a:tc>
                  <a:txBody>
                    <a:bodyPr/>
                    <a:lstStyle/>
                    <a:p>
                      <a:r>
                        <a:rPr lang="en-US" sz="1050" b="1" dirty="0">
                          <a:solidFill>
                            <a:schemeClr val="bg1"/>
                          </a:solidFill>
                        </a:rPr>
                        <a:t>Issue Found – </a:t>
                      </a:r>
                    </a:p>
                    <a:p>
                      <a:pPr lvl="1"/>
                      <a:r>
                        <a:rPr lang="en-US" sz="1050" dirty="0">
                          <a:solidFill>
                            <a:schemeClr val="bg1"/>
                          </a:solidFill>
                        </a:rPr>
                        <a:t>Registration completed but there was no clear success confirmation after re-direct.</a:t>
                      </a:r>
                    </a:p>
                    <a:p>
                      <a:endParaRPr lang="en-US" sz="1050" dirty="0">
                        <a:solidFill>
                          <a:schemeClr val="bg1"/>
                        </a:solidFill>
                      </a:endParaRPr>
                    </a:p>
                    <a:p>
                      <a:r>
                        <a:rPr lang="en-US" sz="1050" b="1" dirty="0">
                          <a:solidFill>
                            <a:schemeClr val="bg1"/>
                          </a:solidFill>
                        </a:rPr>
                        <a:t>Result / Fix-</a:t>
                      </a:r>
                    </a:p>
                    <a:p>
                      <a:pPr lvl="1"/>
                      <a:r>
                        <a:rPr lang="en-US" sz="1050" dirty="0">
                          <a:solidFill>
                            <a:schemeClr val="bg1"/>
                          </a:solidFill>
                        </a:rPr>
                        <a:t> Testing identified the need for a clearer user feedback.</a:t>
                      </a:r>
                    </a:p>
                    <a:p>
                      <a:endParaRPr lang="en-US" sz="1050" dirty="0">
                        <a:solidFill>
                          <a:schemeClr val="bg1"/>
                        </a:solidFill>
                      </a:endParaRPr>
                    </a:p>
                  </a:txBody>
                  <a:tcPr>
                    <a:solidFill>
                      <a:srgbClr val="0A6E8C"/>
                    </a:solidFill>
                  </a:tcPr>
                </a:tc>
                <a:tc>
                  <a:txBody>
                    <a:bodyPr/>
                    <a:lstStyle/>
                    <a:p>
                      <a:r>
                        <a:rPr lang="en-US" sz="1050" b="1" dirty="0">
                          <a:solidFill>
                            <a:schemeClr val="bg1"/>
                          </a:solidFill>
                        </a:rPr>
                        <a:t>Issue Found- </a:t>
                      </a:r>
                    </a:p>
                    <a:p>
                      <a:pPr lvl="1"/>
                      <a:r>
                        <a:rPr lang="en-US" sz="1050" dirty="0">
                          <a:solidFill>
                            <a:schemeClr val="bg1"/>
                          </a:solidFill>
                        </a:rPr>
                        <a:t>It was not always clear why a boat could not be booked.</a:t>
                      </a:r>
                    </a:p>
                    <a:p>
                      <a:endParaRPr lang="en-US" sz="1050" dirty="0">
                        <a:solidFill>
                          <a:schemeClr val="bg1"/>
                        </a:solidFill>
                      </a:endParaRPr>
                    </a:p>
                    <a:p>
                      <a:r>
                        <a:rPr lang="en-US" sz="1050" b="1" dirty="0">
                          <a:solidFill>
                            <a:schemeClr val="bg1"/>
                          </a:solidFill>
                        </a:rPr>
                        <a:t>Result /Fix-</a:t>
                      </a:r>
                    </a:p>
                    <a:p>
                      <a:pPr lvl="1"/>
                      <a:r>
                        <a:rPr lang="en-US" sz="1050" dirty="0">
                          <a:solidFill>
                            <a:schemeClr val="bg1"/>
                          </a:solidFill>
                        </a:rPr>
                        <a:t>A helper message was added to explain that the boat already had a reservation.</a:t>
                      </a:r>
                    </a:p>
                  </a:txBody>
                  <a:tcPr>
                    <a:solidFill>
                      <a:srgbClr val="0A6E8C"/>
                    </a:solidFill>
                  </a:tcPr>
                </a:tc>
                <a:tc>
                  <a:txBody>
                    <a:bodyPr/>
                    <a:lstStyle/>
                    <a:p>
                      <a:r>
                        <a:rPr lang="en-US" sz="1050" b="1" dirty="0">
                          <a:solidFill>
                            <a:schemeClr val="bg1"/>
                          </a:solidFill>
                        </a:rPr>
                        <a:t>Issue Found- </a:t>
                      </a:r>
                    </a:p>
                    <a:p>
                      <a:pPr lvl="1"/>
                      <a:r>
                        <a:rPr lang="en-US" sz="1050" dirty="0">
                          <a:solidFill>
                            <a:schemeClr val="bg1"/>
                          </a:solidFill>
                        </a:rPr>
                        <a:t>Peer testing found visual issues with the hero banner and spacing on smaller screens.</a:t>
                      </a:r>
                    </a:p>
                    <a:p>
                      <a:endParaRPr lang="en-US" sz="1050" dirty="0">
                        <a:solidFill>
                          <a:schemeClr val="bg1"/>
                        </a:solidFill>
                      </a:endParaRPr>
                    </a:p>
                    <a:p>
                      <a:r>
                        <a:rPr lang="en-US" sz="1050" b="1" dirty="0">
                          <a:solidFill>
                            <a:schemeClr val="bg1"/>
                          </a:solidFill>
                        </a:rPr>
                        <a:t>Result / Fix-</a:t>
                      </a:r>
                    </a:p>
                    <a:p>
                      <a:pPr lvl="1"/>
                      <a:r>
                        <a:rPr lang="en-US" sz="1050" dirty="0">
                          <a:solidFill>
                            <a:schemeClr val="bg1"/>
                          </a:solidFill>
                        </a:rPr>
                        <a:t>Responsive layout issues were identified for cleanup. </a:t>
                      </a:r>
                    </a:p>
                  </a:txBody>
                  <a:tcPr>
                    <a:solidFill>
                      <a:srgbClr val="0A6E8C"/>
                    </a:solidFill>
                  </a:tcPr>
                </a:tc>
                <a:tc>
                  <a:txBody>
                    <a:bodyPr/>
                    <a:lstStyle/>
                    <a:p>
                      <a:r>
                        <a:rPr lang="en-US" sz="1050" b="1" dirty="0">
                          <a:solidFill>
                            <a:schemeClr val="bg1"/>
                          </a:solidFill>
                        </a:rPr>
                        <a:t>Issue Found-</a:t>
                      </a:r>
                    </a:p>
                    <a:p>
                      <a:pPr lvl="1"/>
                      <a:r>
                        <a:rPr lang="en-US" sz="1050" dirty="0">
                          <a:solidFill>
                            <a:schemeClr val="bg1"/>
                          </a:solidFill>
                        </a:rPr>
                        <a:t>Testing showed the wait-list flow needed to route through the correct page. </a:t>
                      </a:r>
                    </a:p>
                    <a:p>
                      <a:endParaRPr lang="en-US" sz="1050" dirty="0">
                        <a:solidFill>
                          <a:schemeClr val="bg1"/>
                        </a:solidFill>
                      </a:endParaRPr>
                    </a:p>
                    <a:p>
                      <a:r>
                        <a:rPr lang="en-US" sz="1050" b="1" dirty="0">
                          <a:solidFill>
                            <a:schemeClr val="bg1"/>
                          </a:solidFill>
                        </a:rPr>
                        <a:t>Result /Fix- </a:t>
                      </a:r>
                    </a:p>
                    <a:p>
                      <a:pPr lvl="1"/>
                      <a:r>
                        <a:rPr lang="en-US" sz="1050" dirty="0">
                          <a:solidFill>
                            <a:schemeClr val="bg1"/>
                          </a:solidFill>
                        </a:rPr>
                        <a:t>The flow was corrected so updated counts and customer position loaded correctly. </a:t>
                      </a:r>
                    </a:p>
                  </a:txBody>
                  <a:tcPr>
                    <a:solidFill>
                      <a:srgbClr val="0A6E8C"/>
                    </a:solidFill>
                  </a:tcPr>
                </a:tc>
                <a:extLst>
                  <a:ext uri="{0D108BD9-81ED-4DB2-BD59-A6C34878D82A}">
                    <a16:rowId xmlns:a16="http://schemas.microsoft.com/office/drawing/2014/main" val="123964362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6E8C"/>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Lessons Learned</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marL="0" indent="0">
              <a:buNone/>
            </a:pPr>
            <a:r>
              <a:rPr lang="en-US" sz="1500" dirty="0">
                <a:solidFill>
                  <a:srgbClr val="E8D9B0"/>
                </a:solidFill>
                <a:latin typeface="Calibri" pitchFamily="34" charset="0"/>
                <a:ea typeface="Calibri" pitchFamily="34" charset="-122"/>
                <a:cs typeface="Calibri" pitchFamily="34" charset="-120"/>
              </a:rPr>
              <a:t>Section 5  ·  What each of us learned</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Section divider for everyone’s Things I Learned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Things I Learned: Robert Breutzmann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Things I Learned: Miguel Fernandez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Miguel</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Things I Learned: Carolina Rodriguez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670964" y="1152992"/>
            <a:ext cx="7680960" cy="3419008"/>
          </a:xfrm>
          <a:prstGeom prst="rect">
            <a:avLst/>
          </a:prstGeom>
          <a:noFill/>
          <a:ln/>
        </p:spPr>
        <p:txBody>
          <a:bodyPr wrap="square" lIns="0" tIns="0" rIns="0" bIns="0" rtlCol="0" anchor="t"/>
          <a:lstStyle/>
          <a:p>
            <a:r>
              <a:rPr lang="en-US" sz="1400" b="1" dirty="0"/>
              <a:t>Three things I learned were:</a:t>
            </a:r>
          </a:p>
          <a:p>
            <a:endParaRPr lang="en-US" sz="1400" dirty="0"/>
          </a:p>
          <a:p>
            <a:r>
              <a:rPr lang="en-US" sz="1400" b="1" dirty="0"/>
              <a:t>Teamwork and Communication</a:t>
            </a:r>
          </a:p>
          <a:p>
            <a:pPr marL="742950" lvl="1" indent="-285750">
              <a:buFont typeface="Arial" panose="020B0604020202020204" pitchFamily="34" charset="0"/>
              <a:buChar char="•"/>
            </a:pPr>
            <a:r>
              <a:rPr lang="en-US" sz="1400" dirty="0"/>
              <a:t>Communication really does make a big difference. It ended up being one of the biggest factors in keeping the project on track. Since we were all focused on different pieces, checking in with each other helped us avoid confusion and work through problems faster.</a:t>
            </a:r>
          </a:p>
          <a:p>
            <a:pPr marL="285750" indent="-285750">
              <a:buFont typeface="Arial" panose="020B0604020202020204" pitchFamily="34" charset="0"/>
              <a:buChar char="•"/>
            </a:pPr>
            <a:endParaRPr lang="en-US" sz="1400" dirty="0"/>
          </a:p>
          <a:p>
            <a:r>
              <a:rPr lang="en-US" sz="1400" b="1" dirty="0"/>
              <a:t>Project Structure</a:t>
            </a:r>
          </a:p>
          <a:p>
            <a:pPr marL="742950" lvl="1" indent="-285750">
              <a:buFont typeface="Arial" panose="020B0604020202020204" pitchFamily="34" charset="0"/>
              <a:buChar char="•"/>
            </a:pPr>
            <a:r>
              <a:rPr lang="en-US" sz="1400" dirty="0"/>
              <a:t>Staying organized made the project a lot easier to manage. Having our files, page responsibilities, database work, and testing separated helped the workload remain balanced between each other.</a:t>
            </a:r>
          </a:p>
          <a:p>
            <a:pPr marL="285750" indent="-285750">
              <a:buFont typeface="Arial" panose="020B0604020202020204" pitchFamily="34" charset="0"/>
              <a:buChar char="•"/>
            </a:pPr>
            <a:endParaRPr lang="en-US" sz="1400" dirty="0"/>
          </a:p>
          <a:p>
            <a:r>
              <a:rPr lang="en-US" sz="1400" b="1" dirty="0"/>
              <a:t>Testing </a:t>
            </a:r>
          </a:p>
          <a:p>
            <a:pPr marL="742950" lvl="1" indent="-285750">
              <a:buFont typeface="Arial" panose="020B0604020202020204" pitchFamily="34" charset="0"/>
              <a:buChar char="•"/>
            </a:pPr>
            <a:r>
              <a:rPr lang="en-US" sz="1400" dirty="0"/>
              <a:t>I learned how helpful it is to have someone else test your work. Sometimes you get so used to what you built that you miss small issues, and also peer feedback helped us catch those things before the final version.</a:t>
            </a:r>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D9B0"/>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marL="0" indent="0">
              <a:buNone/>
            </a:pPr>
            <a:r>
              <a:rPr lang="en-US" sz="2600" dirty="0">
                <a:solidFill>
                  <a:srgbClr val="16262E"/>
                </a:solidFill>
                <a:latin typeface="Cambria" pitchFamily="34" charset="0"/>
                <a:ea typeface="Cambria" pitchFamily="34" charset="-122"/>
                <a:cs typeface="Cambria" pitchFamily="34" charset="-120"/>
              </a:rPr>
              <a:t>Things I Learned: Sara White</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txBody>
          <a:bodyPr/>
          <a:lstStyle/>
          <a:p>
            <a:endParaRPr lang="en-US"/>
          </a:p>
        </p:txBody>
      </p:sp>
      <p:sp>
        <p:nvSpPr>
          <p:cNvPr id="4" name="Text 2"/>
          <p:cNvSpPr txBox="1"/>
          <p:nvPr/>
        </p:nvSpPr>
        <p:spPr>
          <a:xfrm>
            <a:off x="731520" y="1280160"/>
            <a:ext cx="7680960" cy="3200400"/>
          </a:xfrm>
          <a:prstGeom prst="rect">
            <a:avLst/>
          </a:prstGeom>
          <a:noFill/>
          <a:ln/>
        </p:spPr>
        <p:txBody>
          <a:bodyPr wrap="square" lIns="0" tIns="0" rIns="0" bIns="0" rtlCol="0" anchor="t"/>
          <a:lstStyle/>
          <a:p>
            <a:pPr marL="0" indent="0">
              <a:buNone/>
            </a:pPr>
            <a:r>
              <a:rPr lang="en-US" sz="1300" b="1" dirty="0">
                <a:solidFill>
                  <a:srgbClr val="8A4B2A"/>
                </a:solidFill>
                <a:latin typeface="Calibri" pitchFamily="34" charset="0"/>
                <a:ea typeface="Calibri" pitchFamily="34" charset="-122"/>
                <a:cs typeface="Calibri" pitchFamily="34" charset="-120"/>
              </a:rPr>
              <a:t>Slide owner: Sara</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3B4D"/>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marL="0" indent="0">
              <a:buNone/>
            </a:pPr>
            <a:r>
              <a:rPr lang="en-US" sz="4000" dirty="0">
                <a:solidFill>
                  <a:srgbClr val="E8D9B0"/>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640080" y="2011680"/>
            <a:ext cx="786384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Questions?</a:t>
            </a:r>
            <a:endParaRPr lang="en-US" sz="1600" dirty="0"/>
          </a:p>
        </p:txBody>
      </p:sp>
      <p:sp>
        <p:nvSpPr>
          <p:cNvPr id="4" name="Text 2"/>
          <p:cNvSpPr txBox="1"/>
          <p:nvPr/>
        </p:nvSpPr>
        <p:spPr>
          <a:xfrm>
            <a:off x="640080" y="3108960"/>
            <a:ext cx="7863840" cy="1280160"/>
          </a:xfrm>
          <a:prstGeom prst="rect">
            <a:avLst/>
          </a:prstGeom>
          <a:noFill/>
          <a:ln/>
        </p:spPr>
        <p:txBody>
          <a:bodyPr wrap="square" lIns="0" tIns="0" rIns="0" bIns="0" rtlCol="0" anchor="t"/>
          <a:lstStyle/>
          <a:p>
            <a:pPr marL="0" indent="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dirty="0">
                <a:solidFill>
                  <a:srgbClr val="FFFFFF"/>
                </a:solidFill>
                <a:latin typeface="Calibri" pitchFamily="34" charset="0"/>
                <a:ea typeface="Calibri" pitchFamily="34" charset="-122"/>
                <a:cs typeface="Calibri" pitchFamily="34" charset="-120"/>
              </a:rPr>
              <a:t>Closing slide: thank the audience and invite questions.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marL="0" indent="0" algn="r">
              <a:buNone/>
            </a:pPr>
            <a:r>
              <a:rPr lang="en-US" sz="900" dirty="0">
                <a:solidFill>
                  <a:srgbClr val="CADCE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2396</Words>
  <Application>Microsoft Office PowerPoint</Application>
  <PresentationFormat>On-screen Show (16:9)</PresentationFormat>
  <Paragraphs>304</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Moffat Bay Marina QA Presentation</dc:title>
  <dc:subject>PptxGenJS Presentation</dc:subject>
  <dc:creator>PptxGenJS</dc:creator>
  <cp:lastModifiedBy>Carolina Rodriguez</cp:lastModifiedBy>
  <cp:revision>3</cp:revision>
  <dcterms:created xsi:type="dcterms:W3CDTF">2026-09-28T14:44:11Z</dcterms:created>
  <dcterms:modified xsi:type="dcterms:W3CDTF">2026-10-02T03:35:35Z</dcterms:modified>
</cp:coreProperties>
</file>