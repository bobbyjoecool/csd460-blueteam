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I'm Miguel. I'm a software development student at Bellevue. On this project I did front end on the Login popup, About Us, and Edit User Info, and back end on Reservation Summary and the Wait List. I also built the Customer and Boat tables in the database, so I'll be walking you through the ERD in a bit.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is the database. I'll show the whole ERD first, then zoom in on the pieces that matter most: customers, reservations, and the wait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full ERD, 13 tables. The colors group them. Teal is customers and their boats, dark blue is bookings, brown is the physical marina, docks, slips and slip sizes, and gray on the right are supporting tables that mostly stand on their own. Everything really meets in the middle at Reservation: a reservation ties one customer, one boat, and one slip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Customer is the table I built. It's basically the account: who you are and how you log in. Email is unique since that's the username. We added two columns later for the lockout rule, so three wrong passwords locks you out until you reset it. From Customer you can get to everything a person does on the site: their reservations, their boats, and their spot on the wait list.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Reservation is the center of the whole database. One row means one customer put one boat in one slip. We save the monthly price right on the reservation, so if the marina raises rates later, people who already booked keep what they agreed to. If someone wants to leave, that goes into TerminationNotice, and there can only be one notice per reservation.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Boats don't point straight at a customer. They go through BoatOwnership, which has start and end dates. That way if a boat gets sold, we don't lose who owned it before. The Gullwing in our seed data is an example of that. Boat length is the field that matters most, because that's how we know which slip size a boat fits 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physical marina. Three docks, 72 slips, three sizes. We pulled slip size into its own table because two things need it: the slips themselves, and the wait list. When you're on the wait list you're not waiting for slip B-12, you're waiting for any slip that size, so the wait list links to SlipSize instead of Slip.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two handle people coming in and going out. The wait list was my back end page. The order is just the time you joined, so it's first come first served, and the status tracks whether you're still waiting or got offered a slip. TerminationNotice is the other side: when someone gives their 30 days notice. Only one per reservation, and they can take it 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four tables are support. Contact saves the About Us form messages. Employee is staff. Rate is where the prices live, so if the marina changes prices we update one row instead of the code. And DatabaseVersion is how our team kept everyone on the same schema. Every update script logs a row, so when something worked on one laptop and not another, the first thing we checked was the version.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few business rules changed how we built the tables. The lockout rule is why Customer has those two extra columns. The slip fit rule is why boat length is required and why slip size is a separate table. And the 30 day notice got its own table instead of just a column on Reservation, because a notice has its own date and status and can be withdrawn.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I'm taking away. First, agreeing on the page contract before coding made the front end and back end split actually work. Second, doing the Wait List back end is where it clicked for me how a servlet, a DAO and a query all connect. Third, tracking every database change with version numbers saved us a lot of time debugging across different machines.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4D"/>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indent="0" marL="0">
              <a:buNone/>
            </a:pPr>
            <a:r>
              <a:rPr lang="en-US" sz="4000" dirty="0">
                <a:solidFill>
                  <a:srgbClr val="E8D9B0"/>
                </a:solidFill>
                <a:latin typeface="Cambria" pitchFamily="34" charset="0"/>
                <a:ea typeface="Cambria" pitchFamily="34" charset="-122"/>
                <a:cs typeface="Cambria" pitchFamily="34" charset="-120"/>
              </a:rPr>
              <a:t>Moffat Bay Marina</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QA Presentation  ·  Blue Team  ·  CSD 460 Capstone</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Title slide: project name, team name, course, and date.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6E8C"/>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Meet Blue Team</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indent="0" marL="0">
              <a:buNone/>
            </a:pPr>
            <a:r>
              <a:rPr lang="en-US" sz="1500" dirty="0">
                <a:solidFill>
                  <a:srgbClr val="E8D9B0"/>
                </a:solidFill>
                <a:latin typeface="Calibri" pitchFamily="34" charset="0"/>
                <a:ea typeface="Calibri" pitchFamily="34" charset="-122"/>
                <a:cs typeface="Calibri" pitchFamily="34" charset="-120"/>
              </a:rPr>
              <a:t>Section 1  ·  Introduction of Team</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Section divider for the team introductions. Assembled from everyone’s About the Developer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About the Developer: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About the Developer: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
        <p:nvSpPr>
          <p:cNvPr id="6" name="Oval 5"/>
          <p:cNvSpPr/>
          <p:nvPr/>
        </p:nvSpPr>
        <p:spPr>
          <a:xfrm>
            <a:off x="868680" y="1463040"/>
            <a:ext cx="1737360" cy="1737360"/>
          </a:xfrm>
          <a:prstGeom prst="ellipse">
            <a:avLst/>
          </a:prstGeom>
          <a:solidFill>
            <a:srgbClr val="0D3B4D"/>
          </a:solidFill>
          <a:ln w="38100">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a:solidFill>
                  <a:srgbClr val="E8D9B0"/>
                </a:solidFill>
                <a:latin typeface="Cambria"/>
              </a:rPr>
              <a:t>MF</a:t>
            </a:r>
          </a:p>
        </p:txBody>
      </p:sp>
      <p:sp>
        <p:nvSpPr>
          <p:cNvPr id="7" name="TextBox 6"/>
          <p:cNvSpPr txBox="1"/>
          <p:nvPr/>
        </p:nvSpPr>
        <p:spPr>
          <a:xfrm>
            <a:off x="685800" y="3337560"/>
            <a:ext cx="2103120" cy="548640"/>
          </a:xfrm>
          <a:prstGeom prst="rect">
            <a:avLst/>
          </a:prstGeom>
          <a:noFill/>
        </p:spPr>
        <p:txBody>
          <a:bodyPr wrap="square" anchor="t" lIns="36576" rIns="36576" tIns="18288" bIns="18288">
            <a:spAutoFit/>
          </a:bodyPr>
          <a:lstStyle/>
          <a:p>
            <a:pPr algn="ctr">
              <a:spcAft>
                <a:spcPts val="300"/>
              </a:spcAft>
            </a:pPr>
            <a:r>
              <a:rPr sz="1100" b="1">
                <a:solidFill>
                  <a:srgbClr val="16262E"/>
                </a:solidFill>
                <a:latin typeface="Calibri"/>
              </a:rPr>
              <a:t>Miguel Fernandez</a:t>
            </a:r>
          </a:p>
          <a:p>
            <a:pPr algn="ctr">
              <a:spcAft>
                <a:spcPts val="300"/>
              </a:spcAft>
            </a:pPr>
            <a:r>
              <a:rPr sz="1100" b="0">
                <a:solidFill>
                  <a:srgbClr val="16262E"/>
                </a:solidFill>
                <a:latin typeface="Calibri"/>
              </a:rPr>
              <a:t>Software Development, Bellevue University</a:t>
            </a:r>
          </a:p>
        </p:txBody>
      </p:sp>
      <p:sp>
        <p:nvSpPr>
          <p:cNvPr id="8" name="TextBox 7"/>
          <p:cNvSpPr txBox="1"/>
          <p:nvPr/>
        </p:nvSpPr>
        <p:spPr>
          <a:xfrm>
            <a:off x="3063240" y="1188720"/>
            <a:ext cx="5120640" cy="256032"/>
          </a:xfrm>
          <a:prstGeom prst="rect">
            <a:avLst/>
          </a:prstGeom>
          <a:noFill/>
        </p:spPr>
        <p:txBody>
          <a:bodyPr wrap="square" anchor="t" lIns="36576" rIns="36576" tIns="18288" bIns="18288">
            <a:spAutoFit/>
          </a:bodyPr>
          <a:lstStyle/>
          <a:p>
            <a:pPr algn="l">
              <a:spcAft>
                <a:spcPts val="300"/>
              </a:spcAft>
            </a:pPr>
            <a:r>
              <a:rPr sz="1200" b="1">
                <a:solidFill>
                  <a:srgbClr val="8A4B2A"/>
                </a:solidFill>
                <a:latin typeface="Calibri"/>
              </a:rPr>
              <a:t>A little about me</a:t>
            </a:r>
          </a:p>
        </p:txBody>
      </p:sp>
      <p:sp>
        <p:nvSpPr>
          <p:cNvPr id="9" name="TextBox 8"/>
          <p:cNvSpPr txBox="1"/>
          <p:nvPr/>
        </p:nvSpPr>
        <p:spPr>
          <a:xfrm>
            <a:off x="3063240" y="1444752"/>
            <a:ext cx="5120640" cy="54864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I'm a software development student who leans toward the visual side of things. This project pulled me into the back end and the database too, which ended up being the part I learned the most from.</a:t>
            </a:r>
          </a:p>
        </p:txBody>
      </p:sp>
      <p:sp>
        <p:nvSpPr>
          <p:cNvPr id="10" name="TextBox 9"/>
          <p:cNvSpPr txBox="1"/>
          <p:nvPr/>
        </p:nvSpPr>
        <p:spPr>
          <a:xfrm>
            <a:off x="3063240" y="2121408"/>
            <a:ext cx="5120640" cy="256032"/>
          </a:xfrm>
          <a:prstGeom prst="rect">
            <a:avLst/>
          </a:prstGeom>
          <a:noFill/>
        </p:spPr>
        <p:txBody>
          <a:bodyPr wrap="square" anchor="t" lIns="36576" rIns="36576" tIns="18288" bIns="18288">
            <a:spAutoFit/>
          </a:bodyPr>
          <a:lstStyle/>
          <a:p>
            <a:pPr algn="l">
              <a:spcAft>
                <a:spcPts val="300"/>
              </a:spcAft>
            </a:pPr>
            <a:r>
              <a:rPr sz="1200" b="1">
                <a:solidFill>
                  <a:srgbClr val="8A4B2A"/>
                </a:solidFill>
                <a:latin typeface="Calibri"/>
              </a:rPr>
              <a:t>What I worked on</a:t>
            </a:r>
          </a:p>
        </p:txBody>
      </p:sp>
      <p:sp>
        <p:nvSpPr>
          <p:cNvPr id="11" name="TextBox 10"/>
          <p:cNvSpPr txBox="1"/>
          <p:nvPr/>
        </p:nvSpPr>
        <p:spPr>
          <a:xfrm>
            <a:off x="3063240" y="2377440"/>
            <a:ext cx="5120640" cy="2103120"/>
          </a:xfrm>
          <a:prstGeom prst="rect">
            <a:avLst/>
          </a:prstGeom>
          <a:noFill/>
        </p:spPr>
        <p:txBody>
          <a:bodyPr wrap="square" anchor="t" lIns="36576" rIns="36576" tIns="18288" bIns="18288">
            <a:spAutoFit/>
          </a:bodyPr>
          <a:lstStyle/>
          <a:p>
            <a:pPr algn="l">
              <a:spcAft>
                <a:spcPts val="300"/>
              </a:spcAft>
            </a:pPr>
            <a:r>
              <a:rPr sz="1100" b="1">
                <a:solidFill>
                  <a:srgbClr val="0A6E8C"/>
                </a:solidFill>
                <a:latin typeface="Calibri"/>
              </a:rPr>
              <a:t>Front End:  </a:t>
            </a:r>
            <a:r>
              <a:rPr sz="1100" b="0">
                <a:solidFill>
                  <a:srgbClr val="16262E"/>
                </a:solidFill>
                <a:latin typeface="Calibri"/>
              </a:rPr>
              <a:t>Login popup, About Us, Edit User Info / Register a New Boat</a:t>
            </a:r>
          </a:p>
          <a:p>
            <a:pPr algn="l">
              <a:spcAft>
                <a:spcPts val="300"/>
              </a:spcAft>
            </a:pPr>
            <a:r>
              <a:rPr sz="1100" b="1">
                <a:solidFill>
                  <a:srgbClr val="0A6E8C"/>
                </a:solidFill>
                <a:latin typeface="Calibri"/>
              </a:rPr>
              <a:t>Back End:  </a:t>
            </a:r>
            <a:r>
              <a:rPr sz="1100" b="0">
                <a:solidFill>
                  <a:srgbClr val="16262E"/>
                </a:solidFill>
                <a:latin typeface="Calibri"/>
              </a:rPr>
              <a:t>Reservation Summary, Wait List</a:t>
            </a:r>
          </a:p>
          <a:p>
            <a:pPr algn="l">
              <a:spcAft>
                <a:spcPts val="300"/>
              </a:spcAft>
            </a:pPr>
            <a:r>
              <a:rPr sz="1100" b="1">
                <a:solidFill>
                  <a:srgbClr val="0A6E8C"/>
                </a:solidFill>
                <a:latin typeface="Calibri"/>
              </a:rPr>
              <a:t>Database:  </a:t>
            </a:r>
            <a:r>
              <a:rPr sz="1100" b="0">
                <a:solidFill>
                  <a:srgbClr val="16262E"/>
                </a:solidFill>
                <a:latin typeface="Calibri"/>
              </a:rPr>
              <a:t>Customer and Boat tables</a:t>
            </a:r>
          </a:p>
          <a:p>
            <a:pPr algn="l">
              <a:spcAft>
                <a:spcPts val="300"/>
              </a:spcAft>
            </a:pPr>
            <a:r>
              <a:rPr sz="1100" b="1">
                <a:solidFill>
                  <a:srgbClr val="0A6E8C"/>
                </a:solidFill>
                <a:latin typeface="Calibri"/>
              </a:rPr>
              <a:t>Slides:  </a:t>
            </a:r>
            <a:r>
              <a:rPr sz="1100" b="0">
                <a:solidFill>
                  <a:srgbClr val="16262E"/>
                </a:solidFill>
                <a:latin typeface="Calibri"/>
              </a:rPr>
              <a:t>the ERD section of this 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About the Developer: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About the Developer: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Your name, a photo or avatar, a brief description of yourself, and what you contributed to the project (pages, roles, and testing).</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6E8C"/>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Sample Prototypes</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indent="0" marL="0">
              <a:buNone/>
            </a:pPr>
            <a:r>
              <a:rPr lang="en-US" sz="1500" dirty="0">
                <a:solidFill>
                  <a:srgbClr val="E8D9B0"/>
                </a:solidFill>
                <a:latin typeface="Calibri" pitchFamily="34" charset="0"/>
                <a:ea typeface="Calibri" pitchFamily="34" charset="-122"/>
                <a:cs typeface="Calibri" pitchFamily="34" charset="-120"/>
              </a:rPr>
              <a:t>Section 2  ·  From wireframe to finished page</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Section divider for the prototype comparisons.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Wireframe to Finished Page (1)</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A Module 2 wireframe or mockup side by side with a screenshot of the finished page, plus a line on what carried through and what changed.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Wireframe to Finished Page (2)</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A second wireframe-to-finished-page comparison, using a different page from the first.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How the Design Changed Along the Way</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The main ways the finished site differs from the original prototypes, and why each change was made.</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6E8C"/>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Database Design</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indent="0" marL="0">
              <a:buNone/>
            </a:pPr>
            <a:r>
              <a:rPr lang="en-US" sz="1500" dirty="0">
                <a:solidFill>
                  <a:srgbClr val="E8D9B0"/>
                </a:solidFill>
                <a:latin typeface="Calibri" pitchFamily="34" charset="0"/>
                <a:ea typeface="Calibri" pitchFamily="34" charset="-122"/>
                <a:cs typeface="Calibri" pitchFamily="34" charset="-120"/>
              </a:rPr>
              <a:t>Section 3  ·  The ERD</a:t>
            </a:r>
            <a:endParaRPr lang="en-US" sz="15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11</a:t>
            </a:r>
            <a:endParaRPr lang="en-US" sz="900" dirty="0"/>
          </a:p>
        </p:txBody>
      </p:sp>
      <p:sp>
        <p:nvSpPr>
          <p:cNvPr id="6" name="TextBox 5"/>
          <p:cNvSpPr txBox="1"/>
          <p:nvPr/>
        </p:nvSpPr>
        <p:spPr>
          <a:xfrm>
            <a:off x="640080" y="3017520"/>
            <a:ext cx="7863840" cy="731520"/>
          </a:xfrm>
          <a:prstGeom prst="rect">
            <a:avLst/>
          </a:prstGeom>
          <a:noFill/>
        </p:spPr>
        <p:txBody>
          <a:bodyPr wrap="square" anchor="t" lIns="36576" rIns="36576" tIns="18288" bIns="18288">
            <a:spAutoFit/>
          </a:bodyPr>
          <a:lstStyle/>
          <a:p>
            <a:pPr algn="l">
              <a:spcAft>
                <a:spcPts val="300"/>
              </a:spcAft>
            </a:pPr>
            <a:r>
              <a:rPr sz="1400" b="0">
                <a:solidFill>
                  <a:srgbClr val="E8D9B0"/>
                </a:solidFill>
                <a:latin typeface="Calibri"/>
              </a:rPr>
              <a:t>13 tables  ·  MySQL 8.0  ·  schema v1.9.0</a:t>
            </a:r>
          </a:p>
          <a:p>
            <a:pPr algn="l">
              <a:spcAft>
                <a:spcPts val="300"/>
              </a:spcAft>
            </a:pPr>
            <a:r>
              <a:rPr sz="1400" b="0">
                <a:solidFill>
                  <a:srgbClr val="FFFFFF"/>
                </a:solidFill>
                <a:latin typeface="Calibri"/>
              </a:rPr>
              <a:t>How the marina, its customers and their bookings are stored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The Full ERD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
        <p:nvSpPr>
          <p:cNvPr id="6" name="Rectangle 5"/>
          <p:cNvSpPr/>
          <p:nvPr/>
        </p:nvSpPr>
        <p:spPr>
          <a:xfrm>
            <a:off x="3840480" y="612648"/>
            <a:ext cx="109728" cy="109728"/>
          </a:xfrm>
          <a:prstGeom prst="rect">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40" y="566928"/>
            <a:ext cx="1188720" cy="201168"/>
          </a:xfrm>
          <a:prstGeom prst="rect">
            <a:avLst/>
          </a:prstGeom>
          <a:noFill/>
        </p:spPr>
        <p:txBody>
          <a:bodyPr wrap="square" anchor="t" lIns="36576" rIns="36576" tIns="18288" bIns="18288">
            <a:spAutoFit/>
          </a:bodyPr>
          <a:lstStyle/>
          <a:p>
            <a:pPr algn="l">
              <a:spcAft>
                <a:spcPts val="300"/>
              </a:spcAft>
            </a:pPr>
            <a:r>
              <a:rPr sz="900" b="0">
                <a:solidFill>
                  <a:srgbClr val="5B6B73"/>
                </a:solidFill>
                <a:latin typeface="Calibri"/>
              </a:rPr>
              <a:t>Customers &amp; boats</a:t>
            </a:r>
          </a:p>
        </p:txBody>
      </p:sp>
      <p:sp>
        <p:nvSpPr>
          <p:cNvPr id="8" name="Rectangle 7"/>
          <p:cNvSpPr/>
          <p:nvPr/>
        </p:nvSpPr>
        <p:spPr>
          <a:xfrm>
            <a:off x="5096865" y="612648"/>
            <a:ext cx="109728" cy="109728"/>
          </a:xfrm>
          <a:prstGeom prst="rect">
            <a:avLst/>
          </a:prstGeom>
          <a:solidFill>
            <a:srgbClr val="0D3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34025" y="566928"/>
            <a:ext cx="1188720" cy="201168"/>
          </a:xfrm>
          <a:prstGeom prst="rect">
            <a:avLst/>
          </a:prstGeom>
          <a:noFill/>
        </p:spPr>
        <p:txBody>
          <a:bodyPr wrap="square" anchor="t" lIns="36576" rIns="36576" tIns="18288" bIns="18288">
            <a:spAutoFit/>
          </a:bodyPr>
          <a:lstStyle/>
          <a:p>
            <a:pPr algn="l">
              <a:spcAft>
                <a:spcPts val="300"/>
              </a:spcAft>
            </a:pPr>
            <a:r>
              <a:rPr sz="900" b="0">
                <a:solidFill>
                  <a:srgbClr val="5B6B73"/>
                </a:solidFill>
                <a:latin typeface="Calibri"/>
              </a:rPr>
              <a:t>Bookings</a:t>
            </a:r>
          </a:p>
        </p:txBody>
      </p:sp>
      <p:sp>
        <p:nvSpPr>
          <p:cNvPr id="10" name="Rectangle 9"/>
          <p:cNvSpPr/>
          <p:nvPr/>
        </p:nvSpPr>
        <p:spPr>
          <a:xfrm>
            <a:off x="5843016" y="612648"/>
            <a:ext cx="109728" cy="109728"/>
          </a:xfrm>
          <a:prstGeom prst="rect">
            <a:avLst/>
          </a:prstGeom>
          <a:solidFill>
            <a:srgbClr val="8A4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0176" y="566928"/>
            <a:ext cx="1188720" cy="201168"/>
          </a:xfrm>
          <a:prstGeom prst="rect">
            <a:avLst/>
          </a:prstGeom>
          <a:noFill/>
        </p:spPr>
        <p:txBody>
          <a:bodyPr wrap="square" anchor="t" lIns="36576" rIns="36576" tIns="18288" bIns="18288">
            <a:spAutoFit/>
          </a:bodyPr>
          <a:lstStyle/>
          <a:p>
            <a:pPr algn="l">
              <a:spcAft>
                <a:spcPts val="300"/>
              </a:spcAft>
            </a:pPr>
            <a:r>
              <a:rPr sz="900" b="0">
                <a:solidFill>
                  <a:srgbClr val="5B6B73"/>
                </a:solidFill>
                <a:latin typeface="Calibri"/>
              </a:rPr>
              <a:t>Slip inventory</a:t>
            </a:r>
          </a:p>
        </p:txBody>
      </p:sp>
      <p:sp>
        <p:nvSpPr>
          <p:cNvPr id="12" name="Rectangle 11"/>
          <p:cNvSpPr/>
          <p:nvPr/>
        </p:nvSpPr>
        <p:spPr>
          <a:xfrm>
            <a:off x="6929323" y="612648"/>
            <a:ext cx="109728" cy="109728"/>
          </a:xfrm>
          <a:prstGeom prst="rect">
            <a:avLst/>
          </a:prstGeom>
          <a:solidFill>
            <a:srgbClr val="5B6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66483" y="566928"/>
            <a:ext cx="1188720" cy="201168"/>
          </a:xfrm>
          <a:prstGeom prst="rect">
            <a:avLst/>
          </a:prstGeom>
          <a:noFill/>
        </p:spPr>
        <p:txBody>
          <a:bodyPr wrap="square" anchor="t" lIns="36576" rIns="36576" tIns="18288" bIns="18288">
            <a:spAutoFit/>
          </a:bodyPr>
          <a:lstStyle/>
          <a:p>
            <a:pPr algn="l">
              <a:spcAft>
                <a:spcPts val="300"/>
              </a:spcAft>
            </a:pPr>
            <a:r>
              <a:rPr sz="900" b="0">
                <a:solidFill>
                  <a:srgbClr val="5B6B73"/>
                </a:solidFill>
                <a:latin typeface="Calibri"/>
              </a:rPr>
              <a:t>Supporting</a:t>
            </a:r>
          </a:p>
        </p:txBody>
      </p:sp>
      <p:sp>
        <p:nvSpPr>
          <p:cNvPr id="14" name="Rectangle 13"/>
          <p:cNvSpPr/>
          <p:nvPr/>
        </p:nvSpPr>
        <p:spPr>
          <a:xfrm>
            <a:off x="685800" y="1188720"/>
            <a:ext cx="1600200" cy="685800"/>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1188720"/>
            <a:ext cx="160020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BoatOwnership</a:t>
            </a:r>
          </a:p>
        </p:txBody>
      </p:sp>
      <p:sp>
        <p:nvSpPr>
          <p:cNvPr id="16" name="TextBox 15"/>
          <p:cNvSpPr txBox="1"/>
          <p:nvPr/>
        </p:nvSpPr>
        <p:spPr>
          <a:xfrm>
            <a:off x="685800" y="1408176"/>
            <a:ext cx="1600200" cy="46634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ownershipID</a:t>
            </a:r>
          </a:p>
          <a:p>
            <a:r>
              <a:rPr sz="700" b="1">
                <a:solidFill>
                  <a:srgbClr val="0A6E8C"/>
                </a:solidFill>
                <a:latin typeface="Calibri"/>
              </a:rPr>
              <a:t>FK  </a:t>
            </a:r>
            <a:r>
              <a:rPr sz="800">
                <a:solidFill>
                  <a:srgbClr val="16262E"/>
                </a:solidFill>
                <a:latin typeface="Calibri"/>
              </a:rPr>
              <a:t>boatID</a:t>
            </a:r>
          </a:p>
          <a:p>
            <a:r>
              <a:rPr sz="700" b="1">
                <a:solidFill>
                  <a:srgbClr val="0A6E8C"/>
                </a:solidFill>
                <a:latin typeface="Calibri"/>
              </a:rPr>
              <a:t>FK  </a:t>
            </a:r>
            <a:r>
              <a:rPr sz="800">
                <a:solidFill>
                  <a:srgbClr val="16262E"/>
                </a:solidFill>
                <a:latin typeface="Calibri"/>
              </a:rPr>
              <a:t>customerID</a:t>
            </a:r>
          </a:p>
        </p:txBody>
      </p:sp>
      <p:sp>
        <p:nvSpPr>
          <p:cNvPr id="17" name="Rectangle 16"/>
          <p:cNvSpPr/>
          <p:nvPr/>
        </p:nvSpPr>
        <p:spPr>
          <a:xfrm>
            <a:off x="2606040" y="1188720"/>
            <a:ext cx="1600200" cy="548640"/>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06040" y="1188720"/>
            <a:ext cx="160020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Boat</a:t>
            </a:r>
          </a:p>
        </p:txBody>
      </p:sp>
      <p:sp>
        <p:nvSpPr>
          <p:cNvPr id="19" name="TextBox 18"/>
          <p:cNvSpPr txBox="1"/>
          <p:nvPr/>
        </p:nvSpPr>
        <p:spPr>
          <a:xfrm>
            <a:off x="2606040" y="1408176"/>
            <a:ext cx="160020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boatID</a:t>
            </a:r>
          </a:p>
          <a:p>
            <a:r>
              <a:rPr sz="800">
                <a:solidFill>
                  <a:srgbClr val="16262E"/>
                </a:solidFill>
                <a:latin typeface="Calibri"/>
              </a:rPr>
              <a:t>boatLength, HIN</a:t>
            </a:r>
          </a:p>
        </p:txBody>
      </p:sp>
      <p:sp>
        <p:nvSpPr>
          <p:cNvPr id="20" name="Rectangle 19"/>
          <p:cNvSpPr/>
          <p:nvPr/>
        </p:nvSpPr>
        <p:spPr>
          <a:xfrm>
            <a:off x="4526280" y="1188720"/>
            <a:ext cx="1600200" cy="548640"/>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26280" y="1188720"/>
            <a:ext cx="160020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Dock</a:t>
            </a:r>
          </a:p>
        </p:txBody>
      </p:sp>
      <p:sp>
        <p:nvSpPr>
          <p:cNvPr id="22" name="TextBox 21"/>
          <p:cNvSpPr txBox="1"/>
          <p:nvPr/>
        </p:nvSpPr>
        <p:spPr>
          <a:xfrm>
            <a:off x="4526280" y="1408176"/>
            <a:ext cx="160020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dockID</a:t>
            </a:r>
          </a:p>
          <a:p>
            <a:r>
              <a:rPr sz="800">
                <a:solidFill>
                  <a:srgbClr val="16262E"/>
                </a:solidFill>
                <a:latin typeface="Calibri"/>
              </a:rPr>
              <a:t>A, B, C</a:t>
            </a:r>
          </a:p>
        </p:txBody>
      </p:sp>
      <p:sp>
        <p:nvSpPr>
          <p:cNvPr id="23" name="Rectangle 22"/>
          <p:cNvSpPr/>
          <p:nvPr/>
        </p:nvSpPr>
        <p:spPr>
          <a:xfrm>
            <a:off x="685800" y="2212848"/>
            <a:ext cx="1600200" cy="548640"/>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212848"/>
            <a:ext cx="160020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Customer</a:t>
            </a:r>
          </a:p>
        </p:txBody>
      </p:sp>
      <p:sp>
        <p:nvSpPr>
          <p:cNvPr id="25" name="TextBox 24"/>
          <p:cNvSpPr txBox="1"/>
          <p:nvPr/>
        </p:nvSpPr>
        <p:spPr>
          <a:xfrm>
            <a:off x="685800" y="2432304"/>
            <a:ext cx="160020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customerID</a:t>
            </a:r>
          </a:p>
          <a:p>
            <a:r>
              <a:rPr sz="800">
                <a:solidFill>
                  <a:srgbClr val="16262E"/>
                </a:solidFill>
                <a:latin typeface="Calibri"/>
              </a:rPr>
              <a:t>email, passwordHash</a:t>
            </a:r>
          </a:p>
        </p:txBody>
      </p:sp>
      <p:sp>
        <p:nvSpPr>
          <p:cNvPr id="26" name="Rectangle 25"/>
          <p:cNvSpPr/>
          <p:nvPr/>
        </p:nvSpPr>
        <p:spPr>
          <a:xfrm>
            <a:off x="2606040" y="2212848"/>
            <a:ext cx="1600200" cy="822959"/>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06040" y="2212848"/>
            <a:ext cx="16002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Reservation</a:t>
            </a:r>
          </a:p>
        </p:txBody>
      </p:sp>
      <p:sp>
        <p:nvSpPr>
          <p:cNvPr id="28" name="TextBox 27"/>
          <p:cNvSpPr txBox="1"/>
          <p:nvPr/>
        </p:nvSpPr>
        <p:spPr>
          <a:xfrm>
            <a:off x="2606040" y="2432304"/>
            <a:ext cx="1600200" cy="603503"/>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reservationID</a:t>
            </a:r>
          </a:p>
          <a:p>
            <a:r>
              <a:rPr sz="700" b="1">
                <a:solidFill>
                  <a:srgbClr val="0A6E8C"/>
                </a:solidFill>
                <a:latin typeface="Calibri"/>
              </a:rPr>
              <a:t>FK  </a:t>
            </a:r>
            <a:r>
              <a:rPr sz="800">
                <a:solidFill>
                  <a:srgbClr val="16262E"/>
                </a:solidFill>
                <a:latin typeface="Calibri"/>
              </a:rPr>
              <a:t>customerID</a:t>
            </a:r>
          </a:p>
          <a:p>
            <a:r>
              <a:rPr sz="700" b="1">
                <a:solidFill>
                  <a:srgbClr val="0A6E8C"/>
                </a:solidFill>
                <a:latin typeface="Calibri"/>
              </a:rPr>
              <a:t>FK  </a:t>
            </a:r>
            <a:r>
              <a:rPr sz="800">
                <a:solidFill>
                  <a:srgbClr val="16262E"/>
                </a:solidFill>
                <a:latin typeface="Calibri"/>
              </a:rPr>
              <a:t>boatID</a:t>
            </a:r>
          </a:p>
          <a:p>
            <a:r>
              <a:rPr sz="700" b="1">
                <a:solidFill>
                  <a:srgbClr val="0A6E8C"/>
                </a:solidFill>
                <a:latin typeface="Calibri"/>
              </a:rPr>
              <a:t>FK  </a:t>
            </a:r>
            <a:r>
              <a:rPr sz="800">
                <a:solidFill>
                  <a:srgbClr val="16262E"/>
                </a:solidFill>
                <a:latin typeface="Calibri"/>
              </a:rPr>
              <a:t>slipID</a:t>
            </a:r>
          </a:p>
        </p:txBody>
      </p:sp>
      <p:sp>
        <p:nvSpPr>
          <p:cNvPr id="29" name="Rectangle 28"/>
          <p:cNvSpPr/>
          <p:nvPr/>
        </p:nvSpPr>
        <p:spPr>
          <a:xfrm>
            <a:off x="4526280" y="2212848"/>
            <a:ext cx="1600200" cy="685800"/>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26280" y="2212848"/>
            <a:ext cx="160020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Slip</a:t>
            </a:r>
          </a:p>
        </p:txBody>
      </p:sp>
      <p:sp>
        <p:nvSpPr>
          <p:cNvPr id="31" name="TextBox 30"/>
          <p:cNvSpPr txBox="1"/>
          <p:nvPr/>
        </p:nvSpPr>
        <p:spPr>
          <a:xfrm>
            <a:off x="4526280" y="2432304"/>
            <a:ext cx="1600200" cy="46634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slipID</a:t>
            </a:r>
          </a:p>
          <a:p>
            <a:r>
              <a:rPr sz="700" b="1">
                <a:solidFill>
                  <a:srgbClr val="0A6E8C"/>
                </a:solidFill>
                <a:latin typeface="Calibri"/>
              </a:rPr>
              <a:t>FK  </a:t>
            </a:r>
            <a:r>
              <a:rPr sz="800">
                <a:solidFill>
                  <a:srgbClr val="16262E"/>
                </a:solidFill>
                <a:latin typeface="Calibri"/>
              </a:rPr>
              <a:t>dockID</a:t>
            </a:r>
          </a:p>
          <a:p>
            <a:r>
              <a:rPr sz="700" b="1">
                <a:solidFill>
                  <a:srgbClr val="0A6E8C"/>
                </a:solidFill>
                <a:latin typeface="Calibri"/>
              </a:rPr>
              <a:t>FK  </a:t>
            </a:r>
            <a:r>
              <a:rPr sz="800">
                <a:solidFill>
                  <a:srgbClr val="16262E"/>
                </a:solidFill>
                <a:latin typeface="Calibri"/>
              </a:rPr>
              <a:t>slipSizeID</a:t>
            </a:r>
          </a:p>
        </p:txBody>
      </p:sp>
      <p:sp>
        <p:nvSpPr>
          <p:cNvPr id="32" name="Rectangle 31"/>
          <p:cNvSpPr/>
          <p:nvPr/>
        </p:nvSpPr>
        <p:spPr>
          <a:xfrm>
            <a:off x="685800" y="3383280"/>
            <a:ext cx="1600200" cy="685800"/>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3383280"/>
            <a:ext cx="16002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WaitList</a:t>
            </a:r>
          </a:p>
        </p:txBody>
      </p:sp>
      <p:sp>
        <p:nvSpPr>
          <p:cNvPr id="34" name="TextBox 33"/>
          <p:cNvSpPr txBox="1"/>
          <p:nvPr/>
        </p:nvSpPr>
        <p:spPr>
          <a:xfrm>
            <a:off x="685800" y="3602736"/>
            <a:ext cx="1600200" cy="46634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waitListID</a:t>
            </a:r>
          </a:p>
          <a:p>
            <a:r>
              <a:rPr sz="700" b="1">
                <a:solidFill>
                  <a:srgbClr val="0A6E8C"/>
                </a:solidFill>
                <a:latin typeface="Calibri"/>
              </a:rPr>
              <a:t>FK  </a:t>
            </a:r>
            <a:r>
              <a:rPr sz="800">
                <a:solidFill>
                  <a:srgbClr val="16262E"/>
                </a:solidFill>
                <a:latin typeface="Calibri"/>
              </a:rPr>
              <a:t>customerID</a:t>
            </a:r>
          </a:p>
          <a:p>
            <a:r>
              <a:rPr sz="700" b="1">
                <a:solidFill>
                  <a:srgbClr val="0A6E8C"/>
                </a:solidFill>
                <a:latin typeface="Calibri"/>
              </a:rPr>
              <a:t>FK  </a:t>
            </a:r>
            <a:r>
              <a:rPr sz="800">
                <a:solidFill>
                  <a:srgbClr val="16262E"/>
                </a:solidFill>
                <a:latin typeface="Calibri"/>
              </a:rPr>
              <a:t>slipSizeID</a:t>
            </a:r>
          </a:p>
        </p:txBody>
      </p:sp>
      <p:sp>
        <p:nvSpPr>
          <p:cNvPr id="35" name="Rectangle 34"/>
          <p:cNvSpPr/>
          <p:nvPr/>
        </p:nvSpPr>
        <p:spPr>
          <a:xfrm>
            <a:off x="2606040" y="3383280"/>
            <a:ext cx="1600200" cy="548640"/>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606040" y="3383280"/>
            <a:ext cx="16002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TerminationNotice</a:t>
            </a:r>
          </a:p>
        </p:txBody>
      </p:sp>
      <p:sp>
        <p:nvSpPr>
          <p:cNvPr id="37" name="TextBox 36"/>
          <p:cNvSpPr txBox="1"/>
          <p:nvPr/>
        </p:nvSpPr>
        <p:spPr>
          <a:xfrm>
            <a:off x="2606040" y="3602736"/>
            <a:ext cx="160020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terminationNoticeID</a:t>
            </a:r>
          </a:p>
          <a:p>
            <a:r>
              <a:rPr sz="700" b="1">
                <a:solidFill>
                  <a:srgbClr val="0A6E8C"/>
                </a:solidFill>
                <a:latin typeface="Calibri"/>
              </a:rPr>
              <a:t>FK  </a:t>
            </a:r>
            <a:r>
              <a:rPr sz="800">
                <a:solidFill>
                  <a:srgbClr val="16262E"/>
                </a:solidFill>
                <a:latin typeface="Calibri"/>
              </a:rPr>
              <a:t>reservationID</a:t>
            </a:r>
          </a:p>
        </p:txBody>
      </p:sp>
      <p:sp>
        <p:nvSpPr>
          <p:cNvPr id="38" name="Rectangle 37"/>
          <p:cNvSpPr/>
          <p:nvPr/>
        </p:nvSpPr>
        <p:spPr>
          <a:xfrm>
            <a:off x="4526280" y="3383280"/>
            <a:ext cx="1600200" cy="548640"/>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26280" y="3383280"/>
            <a:ext cx="160020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SlipSize</a:t>
            </a:r>
          </a:p>
        </p:txBody>
      </p:sp>
      <p:sp>
        <p:nvSpPr>
          <p:cNvPr id="40" name="TextBox 39"/>
          <p:cNvSpPr txBox="1"/>
          <p:nvPr/>
        </p:nvSpPr>
        <p:spPr>
          <a:xfrm>
            <a:off x="4526280" y="3602736"/>
            <a:ext cx="160020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slipSizeID</a:t>
            </a:r>
          </a:p>
          <a:p>
            <a:r>
              <a:rPr sz="800">
                <a:solidFill>
                  <a:srgbClr val="16262E"/>
                </a:solidFill>
                <a:latin typeface="Calibri"/>
              </a:rPr>
              <a:t>26, 40, 50 ft</a:t>
            </a:r>
          </a:p>
        </p:txBody>
      </p:sp>
      <p:cxnSp>
        <p:nvCxnSpPr>
          <p:cNvPr id="41" name="Connector 40"/>
          <p:cNvCxnSpPr/>
          <p:nvPr/>
        </p:nvCxnSpPr>
        <p:spPr>
          <a:xfrm>
            <a:off x="1485900" y="1874519"/>
            <a:ext cx="0" cy="338329"/>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522476" y="1929384"/>
            <a:ext cx="146304" cy="164592"/>
          </a:xfrm>
          <a:prstGeom prst="rect">
            <a:avLst/>
          </a:prstGeom>
          <a:noFill/>
        </p:spPr>
        <p:txBody>
          <a:bodyPr wrap="none" lIns="0" rIns="0" tIns="0" bIns="0">
            <a:spAutoFit/>
          </a:bodyPr>
          <a:lstStyle/>
          <a:p>
            <a:r>
              <a:rPr sz="900" b="1">
                <a:solidFill>
                  <a:srgbClr val="8A4B2A"/>
                </a:solidFill>
                <a:latin typeface="Calibri"/>
              </a:rPr>
              <a:t>N</a:t>
            </a:r>
          </a:p>
        </p:txBody>
      </p:sp>
      <p:sp>
        <p:nvSpPr>
          <p:cNvPr id="43" name="TextBox 42"/>
          <p:cNvSpPr txBox="1"/>
          <p:nvPr/>
        </p:nvSpPr>
        <p:spPr>
          <a:xfrm>
            <a:off x="1522476" y="2011679"/>
            <a:ext cx="146304" cy="164592"/>
          </a:xfrm>
          <a:prstGeom prst="rect">
            <a:avLst/>
          </a:prstGeom>
          <a:noFill/>
        </p:spPr>
        <p:txBody>
          <a:bodyPr wrap="none" lIns="0" rIns="0" tIns="0" bIns="0">
            <a:spAutoFit/>
          </a:bodyPr>
          <a:lstStyle/>
          <a:p>
            <a:r>
              <a:rPr sz="900" b="1">
                <a:solidFill>
                  <a:srgbClr val="8A4B2A"/>
                </a:solidFill>
                <a:latin typeface="Calibri"/>
              </a:rPr>
              <a:t>1</a:t>
            </a:r>
          </a:p>
        </p:txBody>
      </p:sp>
      <p:cxnSp>
        <p:nvCxnSpPr>
          <p:cNvPr id="44" name="Connector 43"/>
          <p:cNvCxnSpPr/>
          <p:nvPr/>
        </p:nvCxnSpPr>
        <p:spPr>
          <a:xfrm flipH="1">
            <a:off x="2286000" y="1463040"/>
            <a:ext cx="32004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496312" y="128016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46" name="TextBox 45"/>
          <p:cNvSpPr txBox="1"/>
          <p:nvPr/>
        </p:nvSpPr>
        <p:spPr>
          <a:xfrm>
            <a:off x="2313432" y="1280160"/>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47" name="Connector 46"/>
          <p:cNvCxnSpPr/>
          <p:nvPr/>
        </p:nvCxnSpPr>
        <p:spPr>
          <a:xfrm>
            <a:off x="2286000" y="2487168"/>
            <a:ext cx="32004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313432" y="2304287"/>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49" name="TextBox 48"/>
          <p:cNvSpPr txBox="1"/>
          <p:nvPr/>
        </p:nvSpPr>
        <p:spPr>
          <a:xfrm>
            <a:off x="2496312" y="2304287"/>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50" name="Connector 49"/>
          <p:cNvCxnSpPr/>
          <p:nvPr/>
        </p:nvCxnSpPr>
        <p:spPr>
          <a:xfrm>
            <a:off x="3406139" y="1737360"/>
            <a:ext cx="0" cy="475488"/>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442715" y="1792224"/>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52" name="TextBox 51"/>
          <p:cNvSpPr txBox="1"/>
          <p:nvPr/>
        </p:nvSpPr>
        <p:spPr>
          <a:xfrm>
            <a:off x="3442715" y="2011679"/>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53" name="Connector 52"/>
          <p:cNvCxnSpPr/>
          <p:nvPr/>
        </p:nvCxnSpPr>
        <p:spPr>
          <a:xfrm flipH="1">
            <a:off x="4206240" y="2555748"/>
            <a:ext cx="32004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416552" y="2372868"/>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55" name="TextBox 54"/>
          <p:cNvSpPr txBox="1"/>
          <p:nvPr/>
        </p:nvSpPr>
        <p:spPr>
          <a:xfrm>
            <a:off x="4233672" y="2372868"/>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56" name="Connector 55"/>
          <p:cNvCxnSpPr/>
          <p:nvPr/>
        </p:nvCxnSpPr>
        <p:spPr>
          <a:xfrm>
            <a:off x="5326380" y="1737360"/>
            <a:ext cx="0" cy="475488"/>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362956" y="1792224"/>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58" name="TextBox 57"/>
          <p:cNvSpPr txBox="1"/>
          <p:nvPr/>
        </p:nvSpPr>
        <p:spPr>
          <a:xfrm>
            <a:off x="5362956" y="2011679"/>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59" name="Connector 58"/>
          <p:cNvCxnSpPr/>
          <p:nvPr/>
        </p:nvCxnSpPr>
        <p:spPr>
          <a:xfrm flipV="1">
            <a:off x="5326380" y="2898648"/>
            <a:ext cx="0" cy="48463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2956" y="318211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61" name="TextBox 60"/>
          <p:cNvSpPr txBox="1"/>
          <p:nvPr/>
        </p:nvSpPr>
        <p:spPr>
          <a:xfrm>
            <a:off x="5362956" y="295351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62" name="Connector 61"/>
          <p:cNvCxnSpPr/>
          <p:nvPr/>
        </p:nvCxnSpPr>
        <p:spPr>
          <a:xfrm>
            <a:off x="3406139" y="3035808"/>
            <a:ext cx="0" cy="34747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442715" y="309067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64" name="TextBox 63"/>
          <p:cNvSpPr txBox="1"/>
          <p:nvPr/>
        </p:nvSpPr>
        <p:spPr>
          <a:xfrm>
            <a:off x="3442715" y="3182112"/>
            <a:ext cx="146304" cy="164592"/>
          </a:xfrm>
          <a:prstGeom prst="rect">
            <a:avLst/>
          </a:prstGeom>
          <a:noFill/>
        </p:spPr>
        <p:txBody>
          <a:bodyPr wrap="none" lIns="0" rIns="0" tIns="0" bIns="0">
            <a:spAutoFit/>
          </a:bodyPr>
          <a:lstStyle/>
          <a:p>
            <a:r>
              <a:rPr sz="900" b="1">
                <a:solidFill>
                  <a:srgbClr val="8A4B2A"/>
                </a:solidFill>
                <a:latin typeface="Calibri"/>
              </a:rPr>
              <a:t>1</a:t>
            </a:r>
          </a:p>
        </p:txBody>
      </p:sp>
      <p:cxnSp>
        <p:nvCxnSpPr>
          <p:cNvPr id="65" name="Connector 64"/>
          <p:cNvCxnSpPr/>
          <p:nvPr/>
        </p:nvCxnSpPr>
        <p:spPr>
          <a:xfrm>
            <a:off x="1485900" y="2761488"/>
            <a:ext cx="0" cy="62179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522476" y="281635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67" name="TextBox 66"/>
          <p:cNvSpPr txBox="1"/>
          <p:nvPr/>
        </p:nvSpPr>
        <p:spPr>
          <a:xfrm>
            <a:off x="1522476" y="318211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68" name="Connector 67"/>
          <p:cNvCxnSpPr/>
          <p:nvPr/>
        </p:nvCxnSpPr>
        <p:spPr>
          <a:xfrm>
            <a:off x="1485900" y="4069080"/>
            <a:ext cx="0" cy="39319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485900" y="4462272"/>
            <a:ext cx="384048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5326380" y="3931920"/>
            <a:ext cx="0" cy="53035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1522476" y="4123944"/>
            <a:ext cx="146304" cy="164592"/>
          </a:xfrm>
          <a:prstGeom prst="rect">
            <a:avLst/>
          </a:prstGeom>
          <a:noFill/>
        </p:spPr>
        <p:txBody>
          <a:bodyPr wrap="none" lIns="0" rIns="0" tIns="0" bIns="0">
            <a:spAutoFit/>
          </a:bodyPr>
          <a:lstStyle/>
          <a:p>
            <a:r>
              <a:rPr sz="900" b="1">
                <a:solidFill>
                  <a:srgbClr val="8A4B2A"/>
                </a:solidFill>
                <a:latin typeface="Calibri"/>
              </a:rPr>
              <a:t>N</a:t>
            </a:r>
          </a:p>
        </p:txBody>
      </p:sp>
      <p:sp>
        <p:nvSpPr>
          <p:cNvPr id="72" name="TextBox 71"/>
          <p:cNvSpPr txBox="1"/>
          <p:nvPr/>
        </p:nvSpPr>
        <p:spPr>
          <a:xfrm>
            <a:off x="5362956" y="3986784"/>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73" name="Rectangle 72"/>
          <p:cNvSpPr/>
          <p:nvPr/>
        </p:nvSpPr>
        <p:spPr>
          <a:xfrm>
            <a:off x="6400800" y="1115568"/>
            <a:ext cx="1737360" cy="3456432"/>
          </a:xfrm>
          <a:prstGeom prst="rect">
            <a:avLst/>
          </a:prstGeom>
          <a:noFill/>
          <a:ln>
            <a:solidFill>
              <a:srgbClr val="D5CB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46520" y="1133856"/>
            <a:ext cx="1645920" cy="182880"/>
          </a:xfrm>
          <a:prstGeom prst="rect">
            <a:avLst/>
          </a:prstGeom>
          <a:noFill/>
        </p:spPr>
        <p:txBody>
          <a:bodyPr wrap="square" anchor="t" lIns="36576" rIns="36576" tIns="18288" bIns="18288">
            <a:spAutoFit/>
          </a:bodyPr>
          <a:lstStyle/>
          <a:p>
            <a:pPr algn="l">
              <a:spcAft>
                <a:spcPts val="300"/>
              </a:spcAft>
            </a:pPr>
            <a:r>
              <a:rPr sz="900" b="1">
                <a:solidFill>
                  <a:srgbClr val="5B6B73"/>
                </a:solidFill>
                <a:latin typeface="Calibri"/>
              </a:rPr>
              <a:t>Supporting</a:t>
            </a:r>
          </a:p>
        </p:txBody>
      </p:sp>
      <p:sp>
        <p:nvSpPr>
          <p:cNvPr id="75" name="Rectangle 74"/>
          <p:cNvSpPr/>
          <p:nvPr/>
        </p:nvSpPr>
        <p:spPr>
          <a:xfrm>
            <a:off x="6537960" y="1371600"/>
            <a:ext cx="1463040" cy="548640"/>
          </a:xfrm>
          <a:prstGeom prst="rect">
            <a:avLst/>
          </a:prstGeom>
          <a:solidFill>
            <a:srgbClr val="FFFFFF"/>
          </a:solidFill>
          <a:ln w="12700">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537960" y="1371600"/>
            <a:ext cx="1463040" cy="219456"/>
          </a:xfrm>
          <a:prstGeom prst="rect">
            <a:avLst/>
          </a:prstGeom>
          <a:solidFill>
            <a:srgbClr val="5B6B73"/>
          </a:solidFill>
          <a:ln>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Contact</a:t>
            </a:r>
          </a:p>
        </p:txBody>
      </p:sp>
      <p:sp>
        <p:nvSpPr>
          <p:cNvPr id="77" name="TextBox 76"/>
          <p:cNvSpPr txBox="1"/>
          <p:nvPr/>
        </p:nvSpPr>
        <p:spPr>
          <a:xfrm>
            <a:off x="6537960" y="1591056"/>
            <a:ext cx="1463040" cy="32918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contactID</a:t>
            </a:r>
          </a:p>
          <a:p>
            <a:r>
              <a:rPr sz="700" b="1">
                <a:solidFill>
                  <a:srgbClr val="0A6E8C"/>
                </a:solidFill>
                <a:latin typeface="Calibri"/>
              </a:rPr>
              <a:t>FK  </a:t>
            </a:r>
            <a:r>
              <a:rPr sz="800">
                <a:solidFill>
                  <a:srgbClr val="16262E"/>
                </a:solidFill>
                <a:latin typeface="Calibri"/>
              </a:rPr>
              <a:t>respondedEmployeeID</a:t>
            </a:r>
          </a:p>
        </p:txBody>
      </p:sp>
      <p:sp>
        <p:nvSpPr>
          <p:cNvPr id="78" name="Rectangle 77"/>
          <p:cNvSpPr/>
          <p:nvPr/>
        </p:nvSpPr>
        <p:spPr>
          <a:xfrm>
            <a:off x="6537960" y="2286000"/>
            <a:ext cx="1463040" cy="411480"/>
          </a:xfrm>
          <a:prstGeom prst="rect">
            <a:avLst/>
          </a:prstGeom>
          <a:solidFill>
            <a:srgbClr val="FFFFFF"/>
          </a:solidFill>
          <a:ln w="12700">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537960" y="2286000"/>
            <a:ext cx="1463040" cy="219456"/>
          </a:xfrm>
          <a:prstGeom prst="rect">
            <a:avLst/>
          </a:prstGeom>
          <a:solidFill>
            <a:srgbClr val="5B6B73"/>
          </a:solidFill>
          <a:ln>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Employee</a:t>
            </a:r>
          </a:p>
        </p:txBody>
      </p:sp>
      <p:sp>
        <p:nvSpPr>
          <p:cNvPr id="80" name="TextBox 79"/>
          <p:cNvSpPr txBox="1"/>
          <p:nvPr/>
        </p:nvSpPr>
        <p:spPr>
          <a:xfrm>
            <a:off x="6537960" y="2505456"/>
            <a:ext cx="1463040" cy="19202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employeeID</a:t>
            </a:r>
          </a:p>
        </p:txBody>
      </p:sp>
      <p:sp>
        <p:nvSpPr>
          <p:cNvPr id="81" name="Rectangle 80"/>
          <p:cNvSpPr/>
          <p:nvPr/>
        </p:nvSpPr>
        <p:spPr>
          <a:xfrm>
            <a:off x="6537960" y="3063240"/>
            <a:ext cx="1463040" cy="411480"/>
          </a:xfrm>
          <a:prstGeom prst="rect">
            <a:avLst/>
          </a:prstGeom>
          <a:solidFill>
            <a:srgbClr val="FFFFFF"/>
          </a:solidFill>
          <a:ln w="12700">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537960" y="3063240"/>
            <a:ext cx="1463040" cy="219456"/>
          </a:xfrm>
          <a:prstGeom prst="rect">
            <a:avLst/>
          </a:prstGeom>
          <a:solidFill>
            <a:srgbClr val="5B6B73"/>
          </a:solidFill>
          <a:ln>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Rate</a:t>
            </a:r>
          </a:p>
        </p:txBody>
      </p:sp>
      <p:sp>
        <p:nvSpPr>
          <p:cNvPr id="83" name="TextBox 82"/>
          <p:cNvSpPr txBox="1"/>
          <p:nvPr/>
        </p:nvSpPr>
        <p:spPr>
          <a:xfrm>
            <a:off x="6537960" y="3282696"/>
            <a:ext cx="1463040" cy="19202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rateID</a:t>
            </a:r>
          </a:p>
        </p:txBody>
      </p:sp>
      <p:sp>
        <p:nvSpPr>
          <p:cNvPr id="84" name="Rectangle 83"/>
          <p:cNvSpPr/>
          <p:nvPr/>
        </p:nvSpPr>
        <p:spPr>
          <a:xfrm>
            <a:off x="6537960" y="3840480"/>
            <a:ext cx="1463040" cy="411480"/>
          </a:xfrm>
          <a:prstGeom prst="rect">
            <a:avLst/>
          </a:prstGeom>
          <a:solidFill>
            <a:srgbClr val="FFFFFF"/>
          </a:solidFill>
          <a:ln w="12700">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537960" y="3840480"/>
            <a:ext cx="1463040" cy="219456"/>
          </a:xfrm>
          <a:prstGeom prst="rect">
            <a:avLst/>
          </a:prstGeom>
          <a:solidFill>
            <a:srgbClr val="5B6B73"/>
          </a:solidFill>
          <a:ln>
            <a:solidFill>
              <a:srgbClr val="5B6B73"/>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000" b="1">
                <a:solidFill>
                  <a:srgbClr val="FFFFFF"/>
                </a:solidFill>
                <a:latin typeface="Calibri"/>
              </a:rPr>
              <a:t>DatabaseVersion</a:t>
            </a:r>
          </a:p>
        </p:txBody>
      </p:sp>
      <p:sp>
        <p:nvSpPr>
          <p:cNvPr id="86" name="TextBox 85"/>
          <p:cNvSpPr txBox="1"/>
          <p:nvPr/>
        </p:nvSpPr>
        <p:spPr>
          <a:xfrm>
            <a:off x="6537960" y="4059936"/>
            <a:ext cx="1463040" cy="192024"/>
          </a:xfrm>
          <a:prstGeom prst="rect">
            <a:avLst/>
          </a:prstGeom>
          <a:noFill/>
        </p:spPr>
        <p:txBody>
          <a:bodyPr wrap="square" lIns="54864" tIns="18288" bIns="0">
            <a:spAutoFit/>
          </a:bodyPr>
          <a:lstStyle/>
          <a:p>
            <a:r>
              <a:rPr sz="700" b="1">
                <a:solidFill>
                  <a:srgbClr val="8A4B2A"/>
                </a:solidFill>
                <a:latin typeface="Calibri"/>
              </a:rPr>
              <a:t>PK  </a:t>
            </a:r>
            <a:r>
              <a:rPr sz="800">
                <a:solidFill>
                  <a:srgbClr val="16262E"/>
                </a:solidFill>
                <a:latin typeface="Calibri"/>
              </a:rPr>
              <a:t>databaseVersionID</a:t>
            </a:r>
          </a:p>
        </p:txBody>
      </p:sp>
      <p:cxnSp>
        <p:nvCxnSpPr>
          <p:cNvPr id="87" name="Connector 86"/>
          <p:cNvCxnSpPr/>
          <p:nvPr/>
        </p:nvCxnSpPr>
        <p:spPr>
          <a:xfrm flipV="1">
            <a:off x="7269480" y="1920240"/>
            <a:ext cx="0" cy="36576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306056" y="2084831"/>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89" name="TextBox 88"/>
          <p:cNvSpPr txBox="1"/>
          <p:nvPr/>
        </p:nvSpPr>
        <p:spPr>
          <a:xfrm>
            <a:off x="7306056" y="1975104"/>
            <a:ext cx="146304" cy="164592"/>
          </a:xfrm>
          <a:prstGeom prst="rect">
            <a:avLst/>
          </a:prstGeom>
          <a:noFill/>
        </p:spPr>
        <p:txBody>
          <a:bodyPr wrap="none" lIns="0" rIns="0" tIns="0" bIns="0">
            <a:spAutoFit/>
          </a:bodyPr>
          <a:lstStyle/>
          <a:p>
            <a:r>
              <a:rPr sz="900" b="1">
                <a:solidFill>
                  <a:srgbClr val="8A4B2A"/>
                </a:solidFill>
                <a:latin typeface="Calibri"/>
              </a:rPr>
              <a:t>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Customer</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
        <p:nvSpPr>
          <p:cNvPr id="6" name="TextBox 5"/>
          <p:cNvSpPr txBox="1"/>
          <p:nvPr/>
        </p:nvSpPr>
        <p:spPr>
          <a:xfrm>
            <a:off x="685800" y="1188720"/>
            <a:ext cx="4206240" cy="3383280"/>
          </a:xfrm>
          <a:prstGeom prst="rect">
            <a:avLst/>
          </a:prstGeom>
          <a:noFill/>
        </p:spPr>
        <p:txBody>
          <a:bodyPr wrap="square" anchor="t" lIns="36576" rIns="36576" tIns="18288" bIns="18288">
            <a:spAutoFit/>
          </a:bodyPr>
          <a:lstStyle/>
          <a:p>
            <a:pPr algn="l">
              <a:spcAft>
                <a:spcPts val="300"/>
              </a:spcAft>
            </a:pPr>
            <a:r>
              <a:rPr sz="1100" b="1">
                <a:solidFill>
                  <a:srgbClr val="8A4B2A"/>
                </a:solidFill>
                <a:latin typeface="Calibri"/>
              </a:rPr>
              <a:t>What it stores</a:t>
            </a:r>
          </a:p>
          <a:p>
            <a:pPr algn="l">
              <a:spcAft>
                <a:spcPts val="300"/>
              </a:spcAft>
            </a:pPr>
            <a:r>
              <a:rPr sz="1100" b="0">
                <a:solidFill>
                  <a:srgbClr val="0A6E8C"/>
                </a:solidFill>
                <a:latin typeface="Calibri"/>
              </a:rPr>
              <a:t>• </a:t>
            </a:r>
            <a:r>
              <a:rPr sz="1100" b="0">
                <a:solidFill>
                  <a:srgbClr val="16262E"/>
                </a:solidFill>
                <a:latin typeface="Calibri"/>
              </a:rPr>
              <a:t>One row per account: name, email, phone, mailing address, date joined</a:t>
            </a:r>
          </a:p>
          <a:p>
            <a:pPr algn="l">
              <a:spcAft>
                <a:spcPts val="300"/>
              </a:spcAft>
            </a:pPr>
            <a:r>
              <a:rPr sz="1100" b="0">
                <a:solidFill>
                  <a:srgbClr val="0A6E8C"/>
                </a:solidFill>
                <a:latin typeface="Calibri"/>
              </a:rPr>
              <a:t>• </a:t>
            </a:r>
            <a:r>
              <a:rPr sz="1100" b="0">
                <a:solidFill>
                  <a:srgbClr val="16262E"/>
                </a:solidFill>
                <a:latin typeface="Calibri"/>
              </a:rPr>
              <a:t>Email is unique because it doubles as the login</a:t>
            </a:r>
          </a:p>
          <a:p>
            <a:pPr algn="l">
              <a:spcAft>
                <a:spcPts val="300"/>
              </a:spcAft>
            </a:pPr>
            <a:r>
              <a:rPr sz="1100" b="0">
                <a:solidFill>
                  <a:srgbClr val="0A6E8C"/>
                </a:solidFill>
                <a:latin typeface="Calibri"/>
              </a:rPr>
              <a:t>• </a:t>
            </a:r>
            <a:r>
              <a:rPr sz="1100" b="0">
                <a:solidFill>
                  <a:srgbClr val="16262E"/>
                </a:solidFill>
                <a:latin typeface="Calibri"/>
              </a:rPr>
              <a:t>Passwords are stored hashed, never as plain text</a:t>
            </a:r>
          </a:p>
          <a:p>
            <a:pPr algn="l">
              <a:spcBef>
                <a:spcPts val="0"/>
              </a:spcBef>
            </a:pPr>
            <a:r>
              <a:rPr sz="400"/>
              <a:t> </a:t>
            </a:r>
          </a:p>
          <a:p>
            <a:pPr algn="l">
              <a:spcAft>
                <a:spcPts val="300"/>
              </a:spcAft>
            </a:pPr>
            <a:r>
              <a:rPr sz="1100" b="1">
                <a:solidFill>
                  <a:srgbClr val="8A4B2A"/>
                </a:solidFill>
                <a:latin typeface="Calibri"/>
              </a:rPr>
              <a:t>Login safety</a:t>
            </a:r>
          </a:p>
          <a:p>
            <a:pPr algn="l">
              <a:spcAft>
                <a:spcPts val="300"/>
              </a:spcAft>
            </a:pPr>
            <a:r>
              <a:rPr sz="1100" b="0">
                <a:solidFill>
                  <a:srgbClr val="0A6E8C"/>
                </a:solidFill>
                <a:latin typeface="Calibri"/>
              </a:rPr>
              <a:t>• </a:t>
            </a:r>
            <a:r>
              <a:rPr sz="1100" b="0">
                <a:solidFill>
                  <a:srgbClr val="16262E"/>
                </a:solidFill>
                <a:latin typeface="Calibri"/>
              </a:rPr>
              <a:t>failedLoginAttempts counts bad tries; at 3 the account is locked</a:t>
            </a:r>
          </a:p>
          <a:p>
            <a:pPr algn="l">
              <a:spcAft>
                <a:spcPts val="300"/>
              </a:spcAft>
            </a:pPr>
            <a:r>
              <a:rPr sz="1100" b="0">
                <a:solidFill>
                  <a:srgbClr val="0A6E8C"/>
                </a:solidFill>
                <a:latin typeface="Calibri"/>
              </a:rPr>
              <a:t>• </a:t>
            </a:r>
            <a:r>
              <a:rPr sz="1100" b="0">
                <a:solidFill>
                  <a:srgbClr val="16262E"/>
                </a:solidFill>
                <a:latin typeface="Calibri"/>
              </a:rPr>
              <a:t>A Forgot Password reset unlocks it again</a:t>
            </a:r>
          </a:p>
          <a:p>
            <a:pPr algn="l">
              <a:spcBef>
                <a:spcPts val="0"/>
              </a:spcBef>
            </a:pPr>
            <a:r>
              <a:rPr sz="400"/>
              <a:t> </a:t>
            </a:r>
          </a:p>
          <a:p>
            <a:pPr algn="l">
              <a:spcAft>
                <a:spcPts val="300"/>
              </a:spcAft>
            </a:pPr>
            <a:r>
              <a:rPr sz="1100" b="1">
                <a:solidFill>
                  <a:srgbClr val="8A4B2A"/>
                </a:solidFill>
                <a:latin typeface="Calibri"/>
              </a:rPr>
              <a:t>Connects to</a:t>
            </a:r>
          </a:p>
          <a:p>
            <a:pPr algn="l">
              <a:spcAft>
                <a:spcPts val="300"/>
              </a:spcAft>
            </a:pPr>
            <a:r>
              <a:rPr sz="1100" b="0">
                <a:solidFill>
                  <a:srgbClr val="0A6E8C"/>
                </a:solidFill>
                <a:latin typeface="Calibri"/>
              </a:rPr>
              <a:t>• </a:t>
            </a:r>
            <a:r>
              <a:rPr sz="1100" b="0">
                <a:solidFill>
                  <a:srgbClr val="16262E"/>
                </a:solidFill>
                <a:latin typeface="Calibri"/>
              </a:rPr>
              <a:t>Reservation: one customer, many reservations</a:t>
            </a:r>
          </a:p>
          <a:p>
            <a:pPr algn="l">
              <a:spcAft>
                <a:spcPts val="300"/>
              </a:spcAft>
            </a:pPr>
            <a:r>
              <a:rPr sz="1100" b="0">
                <a:solidFill>
                  <a:srgbClr val="0A6E8C"/>
                </a:solidFill>
                <a:latin typeface="Calibri"/>
              </a:rPr>
              <a:t>• </a:t>
            </a:r>
            <a:r>
              <a:rPr sz="1100" b="0">
                <a:solidFill>
                  <a:srgbClr val="16262E"/>
                </a:solidFill>
                <a:latin typeface="Calibri"/>
              </a:rPr>
              <a:t>BoatOwnership: the boats they own (My Fleet)</a:t>
            </a:r>
          </a:p>
          <a:p>
            <a:pPr algn="l">
              <a:spcAft>
                <a:spcPts val="300"/>
              </a:spcAft>
            </a:pPr>
            <a:r>
              <a:rPr sz="1100" b="0">
                <a:solidFill>
                  <a:srgbClr val="0A6E8C"/>
                </a:solidFill>
                <a:latin typeface="Calibri"/>
              </a:rPr>
              <a:t>• </a:t>
            </a:r>
            <a:r>
              <a:rPr sz="1100" b="0">
                <a:solidFill>
                  <a:srgbClr val="16262E"/>
                </a:solidFill>
                <a:latin typeface="Calibri"/>
              </a:rPr>
              <a:t>WaitList: their place in line for a slip size</a:t>
            </a:r>
          </a:p>
        </p:txBody>
      </p:sp>
      <p:sp>
        <p:nvSpPr>
          <p:cNvPr id="7" name="Rectangle 6"/>
          <p:cNvSpPr/>
          <p:nvPr/>
        </p:nvSpPr>
        <p:spPr>
          <a:xfrm>
            <a:off x="5623560" y="2240280"/>
            <a:ext cx="1737360" cy="740664"/>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60" y="2240280"/>
            <a:ext cx="173736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Customer</a:t>
            </a:r>
          </a:p>
        </p:txBody>
      </p:sp>
      <p:sp>
        <p:nvSpPr>
          <p:cNvPr id="9" name="TextBox 8"/>
          <p:cNvSpPr txBox="1"/>
          <p:nvPr/>
        </p:nvSpPr>
        <p:spPr>
          <a:xfrm>
            <a:off x="5623560" y="2459736"/>
            <a:ext cx="1737360" cy="521208"/>
          </a:xfrm>
          <a:prstGeom prst="rect">
            <a:avLst/>
          </a:prstGeom>
          <a:noFill/>
        </p:spPr>
        <p:txBody>
          <a:bodyPr wrap="square" lIns="54864" tIns="18288" bIns="0">
            <a:spAutoFit/>
          </a:bodyPr>
          <a:lstStyle/>
          <a:p>
            <a:r>
              <a:rPr sz="800" b="1">
                <a:solidFill>
                  <a:srgbClr val="8A4B2A"/>
                </a:solidFill>
                <a:latin typeface="Calibri"/>
              </a:rPr>
              <a:t>PK  </a:t>
            </a:r>
            <a:r>
              <a:rPr sz="900">
                <a:solidFill>
                  <a:srgbClr val="16262E"/>
                </a:solidFill>
                <a:latin typeface="Calibri"/>
              </a:rPr>
              <a:t>customerID</a:t>
            </a:r>
          </a:p>
          <a:p>
            <a:r>
              <a:rPr sz="900">
                <a:solidFill>
                  <a:srgbClr val="16262E"/>
                </a:solidFill>
                <a:latin typeface="Calibri"/>
              </a:rPr>
              <a:t>email (unique)</a:t>
            </a:r>
          </a:p>
          <a:p>
            <a:r>
              <a:rPr sz="900">
                <a:solidFill>
                  <a:srgbClr val="16262E"/>
                </a:solidFill>
                <a:latin typeface="Calibri"/>
              </a:rPr>
              <a:t>accountLocked</a:t>
            </a:r>
          </a:p>
        </p:txBody>
      </p:sp>
      <p:sp>
        <p:nvSpPr>
          <p:cNvPr id="10" name="Rectangle 9"/>
          <p:cNvSpPr/>
          <p:nvPr/>
        </p:nvSpPr>
        <p:spPr>
          <a:xfrm>
            <a:off x="5074920" y="1234440"/>
            <a:ext cx="1417320" cy="429768"/>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74920" y="1234440"/>
            <a:ext cx="141732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Reservation</a:t>
            </a:r>
          </a:p>
        </p:txBody>
      </p:sp>
      <p:sp>
        <p:nvSpPr>
          <p:cNvPr id="12" name="TextBox 11"/>
          <p:cNvSpPr txBox="1"/>
          <p:nvPr/>
        </p:nvSpPr>
        <p:spPr>
          <a:xfrm>
            <a:off x="5074920" y="1453896"/>
            <a:ext cx="1417320" cy="210312"/>
          </a:xfrm>
          <a:prstGeom prst="rect">
            <a:avLst/>
          </a:prstGeom>
          <a:noFill/>
        </p:spPr>
        <p:txBody>
          <a:bodyPr wrap="square" lIns="54864" tIns="18288" bIns="0">
            <a:spAutoFit/>
          </a:bodyPr>
          <a:lstStyle/>
          <a:p>
            <a:r>
              <a:rPr sz="800" b="1">
                <a:solidFill>
                  <a:srgbClr val="0A6E8C"/>
                </a:solidFill>
                <a:latin typeface="Calibri"/>
              </a:rPr>
              <a:t>FK  </a:t>
            </a:r>
            <a:r>
              <a:rPr sz="900">
                <a:solidFill>
                  <a:srgbClr val="16262E"/>
                </a:solidFill>
                <a:latin typeface="Calibri"/>
              </a:rPr>
              <a:t>customerID</a:t>
            </a:r>
          </a:p>
        </p:txBody>
      </p:sp>
      <p:sp>
        <p:nvSpPr>
          <p:cNvPr id="13" name="Rectangle 12"/>
          <p:cNvSpPr/>
          <p:nvPr/>
        </p:nvSpPr>
        <p:spPr>
          <a:xfrm>
            <a:off x="6812280" y="1234440"/>
            <a:ext cx="1417320" cy="429768"/>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12280" y="1234440"/>
            <a:ext cx="141732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BoatOwnership</a:t>
            </a:r>
          </a:p>
        </p:txBody>
      </p:sp>
      <p:sp>
        <p:nvSpPr>
          <p:cNvPr id="15" name="TextBox 14"/>
          <p:cNvSpPr txBox="1"/>
          <p:nvPr/>
        </p:nvSpPr>
        <p:spPr>
          <a:xfrm>
            <a:off x="6812280" y="1453896"/>
            <a:ext cx="1417320" cy="210312"/>
          </a:xfrm>
          <a:prstGeom prst="rect">
            <a:avLst/>
          </a:prstGeom>
          <a:noFill/>
        </p:spPr>
        <p:txBody>
          <a:bodyPr wrap="square" lIns="54864" tIns="18288" bIns="0">
            <a:spAutoFit/>
          </a:bodyPr>
          <a:lstStyle/>
          <a:p>
            <a:r>
              <a:rPr sz="800" b="1">
                <a:solidFill>
                  <a:srgbClr val="0A6E8C"/>
                </a:solidFill>
                <a:latin typeface="Calibri"/>
              </a:rPr>
              <a:t>FK  </a:t>
            </a:r>
            <a:r>
              <a:rPr sz="900">
                <a:solidFill>
                  <a:srgbClr val="16262E"/>
                </a:solidFill>
                <a:latin typeface="Calibri"/>
              </a:rPr>
              <a:t>customerID</a:t>
            </a:r>
          </a:p>
        </p:txBody>
      </p:sp>
      <p:sp>
        <p:nvSpPr>
          <p:cNvPr id="16" name="Rectangle 15"/>
          <p:cNvSpPr/>
          <p:nvPr/>
        </p:nvSpPr>
        <p:spPr>
          <a:xfrm>
            <a:off x="5760720" y="3703320"/>
            <a:ext cx="1463040" cy="429768"/>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60720" y="3703320"/>
            <a:ext cx="146304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WaitList</a:t>
            </a:r>
          </a:p>
        </p:txBody>
      </p:sp>
      <p:sp>
        <p:nvSpPr>
          <p:cNvPr id="18" name="TextBox 17"/>
          <p:cNvSpPr txBox="1"/>
          <p:nvPr/>
        </p:nvSpPr>
        <p:spPr>
          <a:xfrm>
            <a:off x="5760720" y="3922776"/>
            <a:ext cx="1463040" cy="210312"/>
          </a:xfrm>
          <a:prstGeom prst="rect">
            <a:avLst/>
          </a:prstGeom>
          <a:noFill/>
        </p:spPr>
        <p:txBody>
          <a:bodyPr wrap="square" lIns="54864" tIns="18288" bIns="0">
            <a:spAutoFit/>
          </a:bodyPr>
          <a:lstStyle/>
          <a:p>
            <a:r>
              <a:rPr sz="800" b="1">
                <a:solidFill>
                  <a:srgbClr val="0A6E8C"/>
                </a:solidFill>
                <a:latin typeface="Calibri"/>
              </a:rPr>
              <a:t>FK  </a:t>
            </a:r>
            <a:r>
              <a:rPr sz="900">
                <a:solidFill>
                  <a:srgbClr val="16262E"/>
                </a:solidFill>
                <a:latin typeface="Calibri"/>
              </a:rPr>
              <a:t>customerID</a:t>
            </a:r>
          </a:p>
        </p:txBody>
      </p:sp>
      <p:cxnSp>
        <p:nvCxnSpPr>
          <p:cNvPr id="19" name="Connector 18"/>
          <p:cNvCxnSpPr/>
          <p:nvPr/>
        </p:nvCxnSpPr>
        <p:spPr>
          <a:xfrm flipV="1">
            <a:off x="6057900" y="1664208"/>
            <a:ext cx="0" cy="57607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4476" y="203911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1" name="TextBox 20"/>
          <p:cNvSpPr txBox="1"/>
          <p:nvPr/>
        </p:nvSpPr>
        <p:spPr>
          <a:xfrm>
            <a:off x="6094476" y="171907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2" name="Connector 21"/>
          <p:cNvCxnSpPr/>
          <p:nvPr/>
        </p:nvCxnSpPr>
        <p:spPr>
          <a:xfrm flipV="1">
            <a:off x="7086600" y="1664208"/>
            <a:ext cx="0" cy="57607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23176" y="203911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4" name="TextBox 23"/>
          <p:cNvSpPr txBox="1"/>
          <p:nvPr/>
        </p:nvSpPr>
        <p:spPr>
          <a:xfrm>
            <a:off x="7123176" y="171907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5" name="Connector 24"/>
          <p:cNvCxnSpPr/>
          <p:nvPr/>
        </p:nvCxnSpPr>
        <p:spPr>
          <a:xfrm>
            <a:off x="6492240" y="2980944"/>
            <a:ext cx="0" cy="722376"/>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28816" y="3035808"/>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7" name="TextBox 26"/>
          <p:cNvSpPr txBox="1"/>
          <p:nvPr/>
        </p:nvSpPr>
        <p:spPr>
          <a:xfrm>
            <a:off x="6528816" y="3502151"/>
            <a:ext cx="146304" cy="164592"/>
          </a:xfrm>
          <a:prstGeom prst="rect">
            <a:avLst/>
          </a:prstGeom>
          <a:noFill/>
        </p:spPr>
        <p:txBody>
          <a:bodyPr wrap="none" lIns="0" rIns="0" tIns="0" bIns="0">
            <a:spAutoFit/>
          </a:bodyPr>
          <a:lstStyle/>
          <a:p>
            <a:r>
              <a:rPr sz="900" b="1">
                <a:solidFill>
                  <a:srgbClr val="8A4B2A"/>
                </a:solidFill>
                <a:latin typeface="Calibri"/>
              </a:rPr>
              <a:t>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Reservation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
        <p:nvSpPr>
          <p:cNvPr id="6" name="TextBox 5"/>
          <p:cNvSpPr txBox="1"/>
          <p:nvPr/>
        </p:nvSpPr>
        <p:spPr>
          <a:xfrm>
            <a:off x="685800" y="1188720"/>
            <a:ext cx="4206240" cy="3383280"/>
          </a:xfrm>
          <a:prstGeom prst="rect">
            <a:avLst/>
          </a:prstGeom>
          <a:noFill/>
        </p:spPr>
        <p:txBody>
          <a:bodyPr wrap="square" anchor="t" lIns="36576" rIns="36576" tIns="18288" bIns="18288">
            <a:spAutoFit/>
          </a:bodyPr>
          <a:lstStyle/>
          <a:p>
            <a:pPr algn="l">
              <a:spcAft>
                <a:spcPts val="300"/>
              </a:spcAft>
            </a:pPr>
            <a:r>
              <a:rPr sz="1100" b="1">
                <a:solidFill>
                  <a:srgbClr val="8A4B2A"/>
                </a:solidFill>
                <a:latin typeface="Calibri"/>
              </a:rPr>
              <a:t>What it stores</a:t>
            </a:r>
          </a:p>
          <a:p>
            <a:pPr algn="l">
              <a:spcAft>
                <a:spcPts val="300"/>
              </a:spcAft>
            </a:pPr>
            <a:r>
              <a:rPr sz="1100" b="0">
                <a:solidFill>
                  <a:srgbClr val="0A6E8C"/>
                </a:solidFill>
                <a:latin typeface="Calibri"/>
              </a:rPr>
              <a:t>• </a:t>
            </a:r>
            <a:r>
              <a:rPr sz="1100" b="0">
                <a:solidFill>
                  <a:srgbClr val="16262E"/>
                </a:solidFill>
                <a:latin typeface="Calibri"/>
              </a:rPr>
              <a:t>Confirmation number (MB-00001 style), start date and status</a:t>
            </a:r>
          </a:p>
          <a:p>
            <a:pPr algn="l">
              <a:spcAft>
                <a:spcPts val="300"/>
              </a:spcAft>
            </a:pPr>
            <a:r>
              <a:rPr sz="1100" b="0">
                <a:solidFill>
                  <a:srgbClr val="0A6E8C"/>
                </a:solidFill>
                <a:latin typeface="Calibri"/>
              </a:rPr>
              <a:t>• </a:t>
            </a:r>
            <a:r>
              <a:rPr sz="1100" b="0">
                <a:solidFill>
                  <a:srgbClr val="16262E"/>
                </a:solidFill>
                <a:latin typeface="Calibri"/>
              </a:rPr>
              <a:t>monthlyRate is saved at booking, so a later price change doesn't touch old bookings</a:t>
            </a:r>
          </a:p>
          <a:p>
            <a:pPr algn="l">
              <a:spcAft>
                <a:spcPts val="300"/>
              </a:spcAft>
            </a:pPr>
            <a:r>
              <a:rPr sz="1100" b="0">
                <a:solidFill>
                  <a:srgbClr val="0A6E8C"/>
                </a:solidFill>
                <a:latin typeface="Calibri"/>
              </a:rPr>
              <a:t>• </a:t>
            </a:r>
            <a:r>
              <a:rPr sz="1100" b="0">
                <a:solidFill>
                  <a:srgbClr val="16262E"/>
                </a:solidFill>
                <a:latin typeface="Calibri"/>
              </a:rPr>
              <a:t>electricalHookup records if the $10.50 electric add-on was picked</a:t>
            </a:r>
          </a:p>
          <a:p>
            <a:pPr algn="l">
              <a:spcBef>
                <a:spcPts val="0"/>
              </a:spcBef>
            </a:pPr>
            <a:r>
              <a:rPr sz="400"/>
              <a:t> </a:t>
            </a:r>
          </a:p>
          <a:p>
            <a:pPr algn="l">
              <a:spcAft>
                <a:spcPts val="300"/>
              </a:spcAft>
            </a:pPr>
            <a:r>
              <a:rPr sz="1100" b="1">
                <a:solidFill>
                  <a:srgbClr val="8A4B2A"/>
                </a:solidFill>
                <a:latin typeface="Calibri"/>
              </a:rPr>
              <a:t>Connects to</a:t>
            </a:r>
          </a:p>
          <a:p>
            <a:pPr algn="l">
              <a:spcAft>
                <a:spcPts val="300"/>
              </a:spcAft>
            </a:pPr>
            <a:r>
              <a:rPr sz="1100" b="0">
                <a:solidFill>
                  <a:srgbClr val="0A6E8C"/>
                </a:solidFill>
                <a:latin typeface="Calibri"/>
              </a:rPr>
              <a:t>• </a:t>
            </a:r>
            <a:r>
              <a:rPr sz="1100" b="0">
                <a:solidFill>
                  <a:srgbClr val="16262E"/>
                </a:solidFill>
                <a:latin typeface="Calibri"/>
              </a:rPr>
              <a:t>Customer: who booked it</a:t>
            </a:r>
          </a:p>
          <a:p>
            <a:pPr algn="l">
              <a:spcAft>
                <a:spcPts val="300"/>
              </a:spcAft>
            </a:pPr>
            <a:r>
              <a:rPr sz="1100" b="0">
                <a:solidFill>
                  <a:srgbClr val="0A6E8C"/>
                </a:solidFill>
                <a:latin typeface="Calibri"/>
              </a:rPr>
              <a:t>• </a:t>
            </a:r>
            <a:r>
              <a:rPr sz="1100" b="0">
                <a:solidFill>
                  <a:srgbClr val="16262E"/>
                </a:solidFill>
                <a:latin typeface="Calibri"/>
              </a:rPr>
              <a:t>Boat: which boat is going in the slip</a:t>
            </a:r>
          </a:p>
          <a:p>
            <a:pPr algn="l">
              <a:spcAft>
                <a:spcPts val="300"/>
              </a:spcAft>
            </a:pPr>
            <a:r>
              <a:rPr sz="1100" b="0">
                <a:solidFill>
                  <a:srgbClr val="0A6E8C"/>
                </a:solidFill>
                <a:latin typeface="Calibri"/>
              </a:rPr>
              <a:t>• </a:t>
            </a:r>
            <a:r>
              <a:rPr sz="1100" b="0">
                <a:solidFill>
                  <a:srgbClr val="16262E"/>
                </a:solidFill>
                <a:latin typeface="Calibri"/>
              </a:rPr>
              <a:t>Slip: the exact slip on Dock A, B or C</a:t>
            </a:r>
          </a:p>
          <a:p>
            <a:pPr algn="l">
              <a:spcAft>
                <a:spcPts val="300"/>
              </a:spcAft>
            </a:pPr>
            <a:r>
              <a:rPr sz="1100" b="0">
                <a:solidFill>
                  <a:srgbClr val="0A6E8C"/>
                </a:solidFill>
                <a:latin typeface="Calibri"/>
              </a:rPr>
              <a:t>• </a:t>
            </a:r>
            <a:r>
              <a:rPr sz="1100" b="0">
                <a:solidFill>
                  <a:srgbClr val="16262E"/>
                </a:solidFill>
                <a:latin typeface="Calibri"/>
              </a:rPr>
              <a:t>TerminationNotice: at most one 30-day notice per reservation</a:t>
            </a:r>
          </a:p>
        </p:txBody>
      </p:sp>
      <p:sp>
        <p:nvSpPr>
          <p:cNvPr id="7" name="Rectangle 6"/>
          <p:cNvSpPr/>
          <p:nvPr/>
        </p:nvSpPr>
        <p:spPr>
          <a:xfrm>
            <a:off x="5669280" y="2148840"/>
            <a:ext cx="1691640" cy="896112"/>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0" y="2148840"/>
            <a:ext cx="169164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Reservation</a:t>
            </a:r>
          </a:p>
        </p:txBody>
      </p:sp>
      <p:sp>
        <p:nvSpPr>
          <p:cNvPr id="9" name="TextBox 8"/>
          <p:cNvSpPr txBox="1"/>
          <p:nvPr/>
        </p:nvSpPr>
        <p:spPr>
          <a:xfrm>
            <a:off x="5669280" y="2368296"/>
            <a:ext cx="1691640" cy="676656"/>
          </a:xfrm>
          <a:prstGeom prst="rect">
            <a:avLst/>
          </a:prstGeom>
          <a:noFill/>
        </p:spPr>
        <p:txBody>
          <a:bodyPr wrap="square" lIns="54864" tIns="18288" bIns="0">
            <a:spAutoFit/>
          </a:bodyPr>
          <a:lstStyle/>
          <a:p>
            <a:r>
              <a:rPr sz="800" b="1">
                <a:solidFill>
                  <a:srgbClr val="8A4B2A"/>
                </a:solidFill>
                <a:latin typeface="Calibri"/>
              </a:rPr>
              <a:t>PK  </a:t>
            </a:r>
            <a:r>
              <a:rPr sz="900">
                <a:solidFill>
                  <a:srgbClr val="16262E"/>
                </a:solidFill>
                <a:latin typeface="Calibri"/>
              </a:rPr>
              <a:t>reservationID</a:t>
            </a:r>
          </a:p>
          <a:p>
            <a:r>
              <a:rPr sz="900">
                <a:solidFill>
                  <a:srgbClr val="16262E"/>
                </a:solidFill>
                <a:latin typeface="Calibri"/>
              </a:rPr>
              <a:t>confirmationNumber</a:t>
            </a:r>
          </a:p>
          <a:p>
            <a:r>
              <a:rPr sz="900">
                <a:solidFill>
                  <a:srgbClr val="16262E"/>
                </a:solidFill>
                <a:latin typeface="Calibri"/>
              </a:rPr>
              <a:t>monthlyRate</a:t>
            </a:r>
          </a:p>
          <a:p>
            <a:r>
              <a:rPr sz="900">
                <a:solidFill>
                  <a:srgbClr val="16262E"/>
                </a:solidFill>
                <a:latin typeface="Calibri"/>
              </a:rPr>
              <a:t>reservationStatus</a:t>
            </a:r>
          </a:p>
        </p:txBody>
      </p:sp>
      <p:sp>
        <p:nvSpPr>
          <p:cNvPr id="10" name="Rectangle 9"/>
          <p:cNvSpPr/>
          <p:nvPr/>
        </p:nvSpPr>
        <p:spPr>
          <a:xfrm>
            <a:off x="4983480" y="1188720"/>
            <a:ext cx="1280160" cy="219456"/>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83480" y="1188720"/>
            <a:ext cx="128016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Customer</a:t>
            </a:r>
          </a:p>
        </p:txBody>
      </p:sp>
      <p:sp>
        <p:nvSpPr>
          <p:cNvPr id="12" name="Rectangle 11"/>
          <p:cNvSpPr/>
          <p:nvPr/>
        </p:nvSpPr>
        <p:spPr>
          <a:xfrm>
            <a:off x="6812280" y="1188720"/>
            <a:ext cx="1280160" cy="219456"/>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12280" y="1188720"/>
            <a:ext cx="128016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Boat</a:t>
            </a:r>
          </a:p>
        </p:txBody>
      </p:sp>
      <p:sp>
        <p:nvSpPr>
          <p:cNvPr id="14" name="Rectangle 13"/>
          <p:cNvSpPr/>
          <p:nvPr/>
        </p:nvSpPr>
        <p:spPr>
          <a:xfrm>
            <a:off x="4983480" y="3886200"/>
            <a:ext cx="1280160" cy="219456"/>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83480" y="3886200"/>
            <a:ext cx="128016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Slip</a:t>
            </a:r>
          </a:p>
        </p:txBody>
      </p:sp>
      <p:sp>
        <p:nvSpPr>
          <p:cNvPr id="16" name="Rectangle 15"/>
          <p:cNvSpPr/>
          <p:nvPr/>
        </p:nvSpPr>
        <p:spPr>
          <a:xfrm>
            <a:off x="6675120" y="3886200"/>
            <a:ext cx="1554480" cy="21945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75120" y="3886200"/>
            <a:ext cx="155448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TerminationNotice</a:t>
            </a:r>
          </a:p>
        </p:txBody>
      </p:sp>
      <p:cxnSp>
        <p:nvCxnSpPr>
          <p:cNvPr id="18" name="Connector 17"/>
          <p:cNvCxnSpPr/>
          <p:nvPr/>
        </p:nvCxnSpPr>
        <p:spPr>
          <a:xfrm>
            <a:off x="5966460" y="1408176"/>
            <a:ext cx="0" cy="74066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03036" y="146304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0" name="TextBox 19"/>
          <p:cNvSpPr txBox="1"/>
          <p:nvPr/>
        </p:nvSpPr>
        <p:spPr>
          <a:xfrm>
            <a:off x="6003036" y="194767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1" name="Connector 20"/>
          <p:cNvCxnSpPr/>
          <p:nvPr/>
        </p:nvCxnSpPr>
        <p:spPr>
          <a:xfrm>
            <a:off x="7086600" y="1408176"/>
            <a:ext cx="0" cy="74066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23176" y="146304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3" name="TextBox 22"/>
          <p:cNvSpPr txBox="1"/>
          <p:nvPr/>
        </p:nvSpPr>
        <p:spPr>
          <a:xfrm>
            <a:off x="7123176" y="194767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4" name="Connector 23"/>
          <p:cNvCxnSpPr/>
          <p:nvPr/>
        </p:nvCxnSpPr>
        <p:spPr>
          <a:xfrm flipV="1">
            <a:off x="5966460" y="3044952"/>
            <a:ext cx="0" cy="841248"/>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03036" y="368503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6" name="TextBox 25"/>
          <p:cNvSpPr txBox="1"/>
          <p:nvPr/>
        </p:nvSpPr>
        <p:spPr>
          <a:xfrm>
            <a:off x="6003036" y="3099816"/>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7" name="Connector 26"/>
          <p:cNvCxnSpPr/>
          <p:nvPr/>
        </p:nvCxnSpPr>
        <p:spPr>
          <a:xfrm>
            <a:off x="7018020" y="3044952"/>
            <a:ext cx="0" cy="841248"/>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054596" y="3099816"/>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9" name="TextBox 28"/>
          <p:cNvSpPr txBox="1"/>
          <p:nvPr/>
        </p:nvSpPr>
        <p:spPr>
          <a:xfrm>
            <a:off x="7054596" y="3685032"/>
            <a:ext cx="146304" cy="164592"/>
          </a:xfrm>
          <a:prstGeom prst="rect">
            <a:avLst/>
          </a:prstGeom>
          <a:noFill/>
        </p:spPr>
        <p:txBody>
          <a:bodyPr wrap="none" lIns="0" rIns="0" tIns="0" bIns="0">
            <a:spAutoFit/>
          </a:bodyPr>
          <a:lstStyle/>
          <a:p>
            <a:r>
              <a:rPr sz="900" b="1">
                <a:solidFill>
                  <a:srgbClr val="8A4B2A"/>
                </a:solidFill>
                <a:latin typeface="Calibri"/>
              </a:rPr>
              <a:t>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Boats and Ownership</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
        <p:nvSpPr>
          <p:cNvPr id="6" name="TextBox 5"/>
          <p:cNvSpPr txBox="1"/>
          <p:nvPr/>
        </p:nvSpPr>
        <p:spPr>
          <a:xfrm>
            <a:off x="685800" y="1188720"/>
            <a:ext cx="4206240" cy="3383280"/>
          </a:xfrm>
          <a:prstGeom prst="rect">
            <a:avLst/>
          </a:prstGeom>
          <a:noFill/>
        </p:spPr>
        <p:txBody>
          <a:bodyPr wrap="square" anchor="t" lIns="36576" rIns="36576" tIns="18288" bIns="18288">
            <a:spAutoFit/>
          </a:bodyPr>
          <a:lstStyle/>
          <a:p>
            <a:pPr algn="l">
              <a:spcAft>
                <a:spcPts val="300"/>
              </a:spcAft>
            </a:pPr>
            <a:r>
              <a:rPr sz="1100" b="1">
                <a:solidFill>
                  <a:srgbClr val="8A4B2A"/>
                </a:solidFill>
                <a:latin typeface="Calibri"/>
              </a:rPr>
              <a:t>Boat</a:t>
            </a:r>
          </a:p>
          <a:p>
            <a:pPr algn="l">
              <a:spcAft>
                <a:spcPts val="300"/>
              </a:spcAft>
            </a:pPr>
            <a:r>
              <a:rPr sz="1100" b="0">
                <a:solidFill>
                  <a:srgbClr val="0A6E8C"/>
                </a:solidFill>
                <a:latin typeface="Calibri"/>
              </a:rPr>
              <a:t>• </a:t>
            </a:r>
            <a:r>
              <a:rPr sz="1100" b="0">
                <a:solidFill>
                  <a:srgbClr val="16262E"/>
                </a:solidFill>
                <a:latin typeface="Calibri"/>
              </a:rPr>
              <a:t>Name, type, year, length and beam (width)</a:t>
            </a:r>
          </a:p>
          <a:p>
            <a:pPr algn="l">
              <a:spcAft>
                <a:spcPts val="300"/>
              </a:spcAft>
            </a:pPr>
            <a:r>
              <a:rPr sz="1100" b="0">
                <a:solidFill>
                  <a:srgbClr val="0A6E8C"/>
                </a:solidFill>
                <a:latin typeface="Calibri"/>
              </a:rPr>
              <a:t>• </a:t>
            </a:r>
            <a:r>
              <a:rPr sz="1100" b="0">
                <a:solidFill>
                  <a:srgbClr val="16262E"/>
                </a:solidFill>
                <a:latin typeface="Calibri"/>
              </a:rPr>
              <a:t>Length is what we check to see if a boat fits a slip</a:t>
            </a:r>
          </a:p>
          <a:p>
            <a:pPr algn="l">
              <a:spcAft>
                <a:spcPts val="300"/>
              </a:spcAft>
            </a:pPr>
            <a:r>
              <a:rPr sz="1100" b="0">
                <a:solidFill>
                  <a:srgbClr val="0A6E8C"/>
                </a:solidFill>
                <a:latin typeface="Calibri"/>
              </a:rPr>
              <a:t>• </a:t>
            </a:r>
            <a:r>
              <a:rPr sz="1100" b="0">
                <a:solidFill>
                  <a:srgbClr val="16262E"/>
                </a:solidFill>
                <a:latin typeface="Calibri"/>
              </a:rPr>
              <a:t>HIN and registration number are unique, so the same boat can't be added twice</a:t>
            </a:r>
          </a:p>
          <a:p>
            <a:pPr algn="l">
              <a:spcBef>
                <a:spcPts val="0"/>
              </a:spcBef>
            </a:pPr>
            <a:r>
              <a:rPr sz="400"/>
              <a:t> </a:t>
            </a:r>
          </a:p>
          <a:p>
            <a:pPr algn="l">
              <a:spcAft>
                <a:spcPts val="300"/>
              </a:spcAft>
            </a:pPr>
            <a:r>
              <a:rPr sz="1100" b="1">
                <a:solidFill>
                  <a:srgbClr val="8A4B2A"/>
                </a:solidFill>
                <a:latin typeface="Calibri"/>
              </a:rPr>
              <a:t>BoatOwnership</a:t>
            </a:r>
          </a:p>
          <a:p>
            <a:pPr algn="l">
              <a:spcAft>
                <a:spcPts val="300"/>
              </a:spcAft>
            </a:pPr>
            <a:r>
              <a:rPr sz="1100" b="0">
                <a:solidFill>
                  <a:srgbClr val="0A6E8C"/>
                </a:solidFill>
                <a:latin typeface="Calibri"/>
              </a:rPr>
              <a:t>• </a:t>
            </a:r>
            <a:r>
              <a:rPr sz="1100" b="0">
                <a:solidFill>
                  <a:srgbClr val="16262E"/>
                </a:solidFill>
                <a:latin typeface="Calibri"/>
              </a:rPr>
              <a:t>Links a boat to a customer with a start and end date</a:t>
            </a:r>
          </a:p>
          <a:p>
            <a:pPr algn="l">
              <a:spcAft>
                <a:spcPts val="300"/>
              </a:spcAft>
            </a:pPr>
            <a:r>
              <a:rPr sz="1100" b="0">
                <a:solidFill>
                  <a:srgbClr val="0A6E8C"/>
                </a:solidFill>
                <a:latin typeface="Calibri"/>
              </a:rPr>
              <a:t>• </a:t>
            </a:r>
            <a:r>
              <a:rPr sz="1100" b="0">
                <a:solidFill>
                  <a:srgbClr val="16262E"/>
                </a:solidFill>
                <a:latin typeface="Calibri"/>
              </a:rPr>
              <a:t>endDate empty = current owner</a:t>
            </a:r>
          </a:p>
          <a:p>
            <a:pPr algn="l">
              <a:spcAft>
                <a:spcPts val="300"/>
              </a:spcAft>
            </a:pPr>
            <a:r>
              <a:rPr sz="1100" b="0">
                <a:solidFill>
                  <a:srgbClr val="0A6E8C"/>
                </a:solidFill>
                <a:latin typeface="Calibri"/>
              </a:rPr>
              <a:t>• </a:t>
            </a:r>
            <a:r>
              <a:rPr sz="1100" b="0">
                <a:solidFill>
                  <a:srgbClr val="16262E"/>
                </a:solidFill>
                <a:latin typeface="Calibri"/>
              </a:rPr>
              <a:t>When a boat is sold we add a row instead of overwriting, so history stays (Gullwing was sold from customer 4 to 6)</a:t>
            </a:r>
          </a:p>
        </p:txBody>
      </p:sp>
      <p:sp>
        <p:nvSpPr>
          <p:cNvPr id="7" name="Rectangle 6"/>
          <p:cNvSpPr/>
          <p:nvPr/>
        </p:nvSpPr>
        <p:spPr>
          <a:xfrm>
            <a:off x="5120640" y="1280160"/>
            <a:ext cx="1371600" cy="219456"/>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20640" y="1280160"/>
            <a:ext cx="137160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Customer</a:t>
            </a:r>
          </a:p>
        </p:txBody>
      </p:sp>
      <p:sp>
        <p:nvSpPr>
          <p:cNvPr id="9" name="Rectangle 8"/>
          <p:cNvSpPr/>
          <p:nvPr/>
        </p:nvSpPr>
        <p:spPr>
          <a:xfrm>
            <a:off x="4983480" y="2514600"/>
            <a:ext cx="1645920" cy="740664"/>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83480" y="2514600"/>
            <a:ext cx="164592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BoatOwnership</a:t>
            </a:r>
          </a:p>
        </p:txBody>
      </p:sp>
      <p:sp>
        <p:nvSpPr>
          <p:cNvPr id="11" name="TextBox 10"/>
          <p:cNvSpPr txBox="1"/>
          <p:nvPr/>
        </p:nvSpPr>
        <p:spPr>
          <a:xfrm>
            <a:off x="4983480" y="2734056"/>
            <a:ext cx="1645920" cy="521208"/>
          </a:xfrm>
          <a:prstGeom prst="rect">
            <a:avLst/>
          </a:prstGeom>
          <a:noFill/>
        </p:spPr>
        <p:txBody>
          <a:bodyPr wrap="square" lIns="54864" tIns="18288" bIns="0">
            <a:spAutoFit/>
          </a:bodyPr>
          <a:lstStyle/>
          <a:p>
            <a:r>
              <a:rPr sz="800" b="1">
                <a:solidFill>
                  <a:srgbClr val="0A6E8C"/>
                </a:solidFill>
                <a:latin typeface="Calibri"/>
              </a:rPr>
              <a:t>FK  </a:t>
            </a:r>
            <a:r>
              <a:rPr sz="900">
                <a:solidFill>
                  <a:srgbClr val="16262E"/>
                </a:solidFill>
                <a:latin typeface="Calibri"/>
              </a:rPr>
              <a:t>customerID</a:t>
            </a:r>
          </a:p>
          <a:p>
            <a:r>
              <a:rPr sz="800" b="1">
                <a:solidFill>
                  <a:srgbClr val="0A6E8C"/>
                </a:solidFill>
                <a:latin typeface="Calibri"/>
              </a:rPr>
              <a:t>FK  </a:t>
            </a:r>
            <a:r>
              <a:rPr sz="900">
                <a:solidFill>
                  <a:srgbClr val="16262E"/>
                </a:solidFill>
                <a:latin typeface="Calibri"/>
              </a:rPr>
              <a:t>boatID</a:t>
            </a:r>
          </a:p>
          <a:p>
            <a:r>
              <a:rPr sz="900">
                <a:solidFill>
                  <a:srgbClr val="16262E"/>
                </a:solidFill>
                <a:latin typeface="Calibri"/>
              </a:rPr>
              <a:t>startDate, endDate</a:t>
            </a:r>
          </a:p>
        </p:txBody>
      </p:sp>
      <p:sp>
        <p:nvSpPr>
          <p:cNvPr id="12" name="Rectangle 11"/>
          <p:cNvSpPr/>
          <p:nvPr/>
        </p:nvSpPr>
        <p:spPr>
          <a:xfrm>
            <a:off x="7040880" y="2514600"/>
            <a:ext cx="1280160" cy="585216"/>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40880" y="2514600"/>
            <a:ext cx="128016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Boat</a:t>
            </a:r>
          </a:p>
        </p:txBody>
      </p:sp>
      <p:sp>
        <p:nvSpPr>
          <p:cNvPr id="14" name="TextBox 13"/>
          <p:cNvSpPr txBox="1"/>
          <p:nvPr/>
        </p:nvSpPr>
        <p:spPr>
          <a:xfrm>
            <a:off x="7040880" y="2734056"/>
            <a:ext cx="1280160" cy="365760"/>
          </a:xfrm>
          <a:prstGeom prst="rect">
            <a:avLst/>
          </a:prstGeom>
          <a:noFill/>
        </p:spPr>
        <p:txBody>
          <a:bodyPr wrap="square" lIns="54864" tIns="18288" bIns="0">
            <a:spAutoFit/>
          </a:bodyPr>
          <a:lstStyle/>
          <a:p>
            <a:r>
              <a:rPr sz="800" b="1">
                <a:solidFill>
                  <a:srgbClr val="8A4B2A"/>
                </a:solidFill>
                <a:latin typeface="Calibri"/>
              </a:rPr>
              <a:t>PK  </a:t>
            </a:r>
            <a:r>
              <a:rPr sz="900">
                <a:solidFill>
                  <a:srgbClr val="16262E"/>
                </a:solidFill>
                <a:latin typeface="Calibri"/>
              </a:rPr>
              <a:t>boatID</a:t>
            </a:r>
          </a:p>
          <a:p>
            <a:r>
              <a:rPr sz="900">
                <a:solidFill>
                  <a:srgbClr val="16262E"/>
                </a:solidFill>
                <a:latin typeface="Calibri"/>
              </a:rPr>
              <a:t>boatLength</a:t>
            </a:r>
          </a:p>
        </p:txBody>
      </p:sp>
      <p:sp>
        <p:nvSpPr>
          <p:cNvPr id="15" name="Rectangle 14"/>
          <p:cNvSpPr/>
          <p:nvPr/>
        </p:nvSpPr>
        <p:spPr>
          <a:xfrm>
            <a:off x="6995160" y="3886200"/>
            <a:ext cx="1371600" cy="21945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95160" y="3886200"/>
            <a:ext cx="13716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Reservation</a:t>
            </a:r>
          </a:p>
        </p:txBody>
      </p:sp>
      <p:cxnSp>
        <p:nvCxnSpPr>
          <p:cNvPr id="17" name="Connector 16"/>
          <p:cNvCxnSpPr/>
          <p:nvPr/>
        </p:nvCxnSpPr>
        <p:spPr>
          <a:xfrm>
            <a:off x="5806440" y="1499616"/>
            <a:ext cx="0" cy="101498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43016" y="155448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19" name="TextBox 18"/>
          <p:cNvSpPr txBox="1"/>
          <p:nvPr/>
        </p:nvSpPr>
        <p:spPr>
          <a:xfrm>
            <a:off x="5843016" y="231343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0" name="Connector 19"/>
          <p:cNvCxnSpPr/>
          <p:nvPr/>
        </p:nvCxnSpPr>
        <p:spPr>
          <a:xfrm flipH="1">
            <a:off x="6629400" y="2807208"/>
            <a:ext cx="41148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31152" y="2624328"/>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2" name="TextBox 21"/>
          <p:cNvSpPr txBox="1"/>
          <p:nvPr/>
        </p:nvSpPr>
        <p:spPr>
          <a:xfrm>
            <a:off x="6656832" y="2624328"/>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3" name="Connector 22"/>
          <p:cNvCxnSpPr/>
          <p:nvPr/>
        </p:nvCxnSpPr>
        <p:spPr>
          <a:xfrm>
            <a:off x="7680960" y="3099816"/>
            <a:ext cx="0" cy="78638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17536" y="315468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5" name="TextBox 24"/>
          <p:cNvSpPr txBox="1"/>
          <p:nvPr/>
        </p:nvSpPr>
        <p:spPr>
          <a:xfrm>
            <a:off x="7717536" y="3685032"/>
            <a:ext cx="146304" cy="164592"/>
          </a:xfrm>
          <a:prstGeom prst="rect">
            <a:avLst/>
          </a:prstGeom>
          <a:noFill/>
        </p:spPr>
        <p:txBody>
          <a:bodyPr wrap="none" lIns="0" rIns="0" tIns="0" bIns="0">
            <a:spAutoFit/>
          </a:bodyPr>
          <a:lstStyle/>
          <a:p>
            <a:r>
              <a:rPr sz="900" b="1">
                <a:solidFill>
                  <a:srgbClr val="8A4B2A"/>
                </a:solidFill>
                <a:latin typeface="Calibri"/>
              </a:rPr>
              <a:t>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Docks, Slips and Slip Sizes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
        <p:nvSpPr>
          <p:cNvPr id="6" name="TextBox 5"/>
          <p:cNvSpPr txBox="1"/>
          <p:nvPr/>
        </p:nvSpPr>
        <p:spPr>
          <a:xfrm>
            <a:off x="685800" y="1188720"/>
            <a:ext cx="4206240" cy="3383280"/>
          </a:xfrm>
          <a:prstGeom prst="rect">
            <a:avLst/>
          </a:prstGeom>
          <a:noFill/>
        </p:spPr>
        <p:txBody>
          <a:bodyPr wrap="square" anchor="t" lIns="36576" rIns="36576" tIns="18288" bIns="18288">
            <a:spAutoFit/>
          </a:bodyPr>
          <a:lstStyle/>
          <a:p>
            <a:pPr algn="l">
              <a:spcAft>
                <a:spcPts val="300"/>
              </a:spcAft>
            </a:pPr>
            <a:r>
              <a:rPr sz="1100" b="1">
                <a:solidFill>
                  <a:srgbClr val="8A4B2A"/>
                </a:solidFill>
                <a:latin typeface="Calibri"/>
              </a:rPr>
              <a:t>How the marina is modeled</a:t>
            </a:r>
          </a:p>
          <a:p>
            <a:pPr algn="l">
              <a:spcAft>
                <a:spcPts val="300"/>
              </a:spcAft>
            </a:pPr>
            <a:r>
              <a:rPr sz="1100" b="0">
                <a:solidFill>
                  <a:srgbClr val="0A6E8C"/>
                </a:solidFill>
                <a:latin typeface="Calibri"/>
              </a:rPr>
              <a:t>• </a:t>
            </a:r>
            <a:r>
              <a:rPr sz="1100" b="0">
                <a:solidFill>
                  <a:srgbClr val="16262E"/>
                </a:solidFill>
                <a:latin typeface="Calibri"/>
              </a:rPr>
              <a:t>3 docks (A, B, C), 24 slips each, 72 slips total</a:t>
            </a:r>
          </a:p>
          <a:p>
            <a:pPr algn="l">
              <a:spcAft>
                <a:spcPts val="300"/>
              </a:spcAft>
            </a:pPr>
            <a:r>
              <a:rPr sz="1100" b="0">
                <a:solidFill>
                  <a:srgbClr val="0A6E8C"/>
                </a:solidFill>
                <a:latin typeface="Calibri"/>
              </a:rPr>
              <a:t>• </a:t>
            </a:r>
            <a:r>
              <a:rPr sz="1100" b="0">
                <a:solidFill>
                  <a:srgbClr val="16262E"/>
                </a:solidFill>
                <a:latin typeface="Calibri"/>
              </a:rPr>
              <a:t>SlipSize holds the three sizes: 26, 40 and 50 ft</a:t>
            </a:r>
          </a:p>
          <a:p>
            <a:pPr algn="l">
              <a:spcAft>
                <a:spcPts val="300"/>
              </a:spcAft>
            </a:pPr>
            <a:r>
              <a:rPr sz="1100" b="0">
                <a:solidFill>
                  <a:srgbClr val="0A6E8C"/>
                </a:solidFill>
                <a:latin typeface="Calibri"/>
              </a:rPr>
              <a:t>• </a:t>
            </a:r>
            <a:r>
              <a:rPr sz="1100" b="0">
                <a:solidFill>
                  <a:srgbClr val="16262E"/>
                </a:solidFill>
                <a:latin typeface="Calibri"/>
              </a:rPr>
              <a:t>Each Slip belongs to one dock and one size</a:t>
            </a:r>
          </a:p>
          <a:p>
            <a:pPr algn="l">
              <a:spcAft>
                <a:spcPts val="300"/>
              </a:spcAft>
            </a:pPr>
            <a:r>
              <a:rPr sz="1100" b="0">
                <a:solidFill>
                  <a:srgbClr val="0A6E8C"/>
                </a:solidFill>
                <a:latin typeface="Calibri"/>
              </a:rPr>
              <a:t>• </a:t>
            </a:r>
            <a:r>
              <a:rPr sz="1100" b="0">
                <a:solidFill>
                  <a:srgbClr val="16262E"/>
                </a:solidFill>
                <a:latin typeface="Calibri"/>
              </a:rPr>
              <a:t>slipStatus can mark a slip as under maintenance or unavailable</a:t>
            </a:r>
          </a:p>
          <a:p>
            <a:pPr algn="l">
              <a:spcBef>
                <a:spcPts val="0"/>
              </a:spcBef>
            </a:pPr>
            <a:r>
              <a:rPr sz="400"/>
              <a:t> </a:t>
            </a:r>
          </a:p>
          <a:p>
            <a:pPr algn="l">
              <a:spcAft>
                <a:spcPts val="300"/>
              </a:spcAft>
            </a:pPr>
            <a:r>
              <a:rPr sz="1100" b="1">
                <a:solidFill>
                  <a:srgbClr val="8A4B2A"/>
                </a:solidFill>
                <a:latin typeface="Calibri"/>
              </a:rPr>
              <a:t>How it feeds the rest</a:t>
            </a:r>
          </a:p>
          <a:p>
            <a:pPr algn="l">
              <a:spcAft>
                <a:spcPts val="300"/>
              </a:spcAft>
            </a:pPr>
            <a:r>
              <a:rPr sz="1100" b="0">
                <a:solidFill>
                  <a:srgbClr val="0A6E8C"/>
                </a:solidFill>
                <a:latin typeface="Calibri"/>
              </a:rPr>
              <a:t>• </a:t>
            </a:r>
            <a:r>
              <a:rPr sz="1100" b="0">
                <a:solidFill>
                  <a:srgbClr val="16262E"/>
                </a:solidFill>
                <a:latin typeface="Calibri"/>
              </a:rPr>
              <a:t>Reservation points at an exact Slip</a:t>
            </a:r>
          </a:p>
          <a:p>
            <a:pPr algn="l">
              <a:spcAft>
                <a:spcPts val="300"/>
              </a:spcAft>
            </a:pPr>
            <a:r>
              <a:rPr sz="1100" b="0">
                <a:solidFill>
                  <a:srgbClr val="0A6E8C"/>
                </a:solidFill>
                <a:latin typeface="Calibri"/>
              </a:rPr>
              <a:t>• </a:t>
            </a:r>
            <a:r>
              <a:rPr sz="1100" b="0">
                <a:solidFill>
                  <a:srgbClr val="16262E"/>
                </a:solidFill>
                <a:latin typeface="Calibri"/>
              </a:rPr>
              <a:t>WaitList points at a SlipSize, not a slip, since people wait for "any 40 ft slip"</a:t>
            </a:r>
          </a:p>
        </p:txBody>
      </p:sp>
      <p:sp>
        <p:nvSpPr>
          <p:cNvPr id="7" name="Rectangle 6"/>
          <p:cNvSpPr/>
          <p:nvPr/>
        </p:nvSpPr>
        <p:spPr>
          <a:xfrm>
            <a:off x="4983480" y="1234440"/>
            <a:ext cx="1371600" cy="429768"/>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83480" y="1234440"/>
            <a:ext cx="137160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Dock</a:t>
            </a:r>
          </a:p>
        </p:txBody>
      </p:sp>
      <p:sp>
        <p:nvSpPr>
          <p:cNvPr id="9" name="TextBox 8"/>
          <p:cNvSpPr txBox="1"/>
          <p:nvPr/>
        </p:nvSpPr>
        <p:spPr>
          <a:xfrm>
            <a:off x="4983480" y="1453896"/>
            <a:ext cx="1371600" cy="210312"/>
          </a:xfrm>
          <a:prstGeom prst="rect">
            <a:avLst/>
          </a:prstGeom>
          <a:noFill/>
        </p:spPr>
        <p:txBody>
          <a:bodyPr wrap="square" lIns="54864" tIns="18288" bIns="0">
            <a:spAutoFit/>
          </a:bodyPr>
          <a:lstStyle/>
          <a:p>
            <a:r>
              <a:rPr sz="900">
                <a:solidFill>
                  <a:srgbClr val="16262E"/>
                </a:solidFill>
                <a:latin typeface="Calibri"/>
              </a:rPr>
              <a:t>3 rows: A, B, C</a:t>
            </a:r>
          </a:p>
        </p:txBody>
      </p:sp>
      <p:sp>
        <p:nvSpPr>
          <p:cNvPr id="10" name="Rectangle 9"/>
          <p:cNvSpPr/>
          <p:nvPr/>
        </p:nvSpPr>
        <p:spPr>
          <a:xfrm>
            <a:off x="6903720" y="1234440"/>
            <a:ext cx="1371600" cy="429768"/>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03720" y="1234440"/>
            <a:ext cx="137160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SlipSize</a:t>
            </a:r>
          </a:p>
        </p:txBody>
      </p:sp>
      <p:sp>
        <p:nvSpPr>
          <p:cNvPr id="12" name="TextBox 11"/>
          <p:cNvSpPr txBox="1"/>
          <p:nvPr/>
        </p:nvSpPr>
        <p:spPr>
          <a:xfrm>
            <a:off x="6903720" y="1453896"/>
            <a:ext cx="1371600" cy="210312"/>
          </a:xfrm>
          <a:prstGeom prst="rect">
            <a:avLst/>
          </a:prstGeom>
          <a:noFill/>
        </p:spPr>
        <p:txBody>
          <a:bodyPr wrap="square" lIns="54864" tIns="18288" bIns="0">
            <a:spAutoFit/>
          </a:bodyPr>
          <a:lstStyle/>
          <a:p>
            <a:r>
              <a:rPr sz="900">
                <a:solidFill>
                  <a:srgbClr val="16262E"/>
                </a:solidFill>
                <a:latin typeface="Calibri"/>
              </a:rPr>
              <a:t>26, 40, 50 ft</a:t>
            </a:r>
          </a:p>
        </p:txBody>
      </p:sp>
      <p:sp>
        <p:nvSpPr>
          <p:cNvPr id="13" name="Rectangle 12"/>
          <p:cNvSpPr/>
          <p:nvPr/>
        </p:nvSpPr>
        <p:spPr>
          <a:xfrm>
            <a:off x="5897880" y="2423160"/>
            <a:ext cx="1463040" cy="585216"/>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97880" y="2423160"/>
            <a:ext cx="146304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Slip</a:t>
            </a:r>
          </a:p>
        </p:txBody>
      </p:sp>
      <p:sp>
        <p:nvSpPr>
          <p:cNvPr id="15" name="TextBox 14"/>
          <p:cNvSpPr txBox="1"/>
          <p:nvPr/>
        </p:nvSpPr>
        <p:spPr>
          <a:xfrm>
            <a:off x="5897880" y="2642615"/>
            <a:ext cx="1463040" cy="365760"/>
          </a:xfrm>
          <a:prstGeom prst="rect">
            <a:avLst/>
          </a:prstGeom>
          <a:noFill/>
        </p:spPr>
        <p:txBody>
          <a:bodyPr wrap="square" lIns="54864" tIns="18288" bIns="0">
            <a:spAutoFit/>
          </a:bodyPr>
          <a:lstStyle/>
          <a:p>
            <a:r>
              <a:rPr sz="900">
                <a:solidFill>
                  <a:srgbClr val="16262E"/>
                </a:solidFill>
                <a:latin typeface="Calibri"/>
              </a:rPr>
              <a:t>72 rows</a:t>
            </a:r>
          </a:p>
          <a:p>
            <a:r>
              <a:rPr sz="900">
                <a:solidFill>
                  <a:srgbClr val="16262E"/>
                </a:solidFill>
                <a:latin typeface="Calibri"/>
              </a:rPr>
              <a:t>slipStatus</a:t>
            </a:r>
          </a:p>
        </p:txBody>
      </p:sp>
      <p:sp>
        <p:nvSpPr>
          <p:cNvPr id="16" name="Rectangle 15"/>
          <p:cNvSpPr/>
          <p:nvPr/>
        </p:nvSpPr>
        <p:spPr>
          <a:xfrm>
            <a:off x="4983480" y="3840480"/>
            <a:ext cx="1371600" cy="21945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83480" y="3840480"/>
            <a:ext cx="13716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Reservation</a:t>
            </a:r>
          </a:p>
        </p:txBody>
      </p:sp>
      <p:sp>
        <p:nvSpPr>
          <p:cNvPr id="18" name="Rectangle 17"/>
          <p:cNvSpPr/>
          <p:nvPr/>
        </p:nvSpPr>
        <p:spPr>
          <a:xfrm>
            <a:off x="6903720" y="3840480"/>
            <a:ext cx="1371600" cy="21945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03720" y="3840480"/>
            <a:ext cx="13716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WaitList</a:t>
            </a:r>
          </a:p>
        </p:txBody>
      </p:sp>
      <p:cxnSp>
        <p:nvCxnSpPr>
          <p:cNvPr id="20" name="Connector 19"/>
          <p:cNvCxnSpPr/>
          <p:nvPr/>
        </p:nvCxnSpPr>
        <p:spPr>
          <a:xfrm>
            <a:off x="6126480" y="1664208"/>
            <a:ext cx="0" cy="75895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63056" y="171907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2" name="TextBox 21"/>
          <p:cNvSpPr txBox="1"/>
          <p:nvPr/>
        </p:nvSpPr>
        <p:spPr>
          <a:xfrm>
            <a:off x="6163056" y="2221991"/>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3" name="Connector 22"/>
          <p:cNvCxnSpPr/>
          <p:nvPr/>
        </p:nvCxnSpPr>
        <p:spPr>
          <a:xfrm>
            <a:off x="7132320" y="1664208"/>
            <a:ext cx="0" cy="75895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168896" y="171907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5" name="TextBox 24"/>
          <p:cNvSpPr txBox="1"/>
          <p:nvPr/>
        </p:nvSpPr>
        <p:spPr>
          <a:xfrm>
            <a:off x="7168896" y="2221991"/>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6" name="Connector 25"/>
          <p:cNvCxnSpPr/>
          <p:nvPr/>
        </p:nvCxnSpPr>
        <p:spPr>
          <a:xfrm>
            <a:off x="6126480" y="3008376"/>
            <a:ext cx="0" cy="83210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63056" y="306324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8" name="TextBox 27"/>
          <p:cNvSpPr txBox="1"/>
          <p:nvPr/>
        </p:nvSpPr>
        <p:spPr>
          <a:xfrm>
            <a:off x="6163056" y="3639312"/>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9" name="Connector 28"/>
          <p:cNvCxnSpPr/>
          <p:nvPr/>
        </p:nvCxnSpPr>
        <p:spPr>
          <a:xfrm>
            <a:off x="7589520" y="1664208"/>
            <a:ext cx="0" cy="2176272"/>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626096" y="1719072"/>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31" name="TextBox 30"/>
          <p:cNvSpPr txBox="1"/>
          <p:nvPr/>
        </p:nvSpPr>
        <p:spPr>
          <a:xfrm>
            <a:off x="7626096" y="3639312"/>
            <a:ext cx="146304" cy="164592"/>
          </a:xfrm>
          <a:prstGeom prst="rect">
            <a:avLst/>
          </a:prstGeom>
          <a:noFill/>
        </p:spPr>
        <p:txBody>
          <a:bodyPr wrap="none" lIns="0" rIns="0" tIns="0" bIns="0">
            <a:spAutoFit/>
          </a:bodyPr>
          <a:lstStyle/>
          <a:p>
            <a:r>
              <a:rPr sz="900" b="1">
                <a:solidFill>
                  <a:srgbClr val="8A4B2A"/>
                </a:solidFill>
                <a:latin typeface="Calibri"/>
              </a:rPr>
              <a:t>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Wait List and Termination Notices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
        <p:nvSpPr>
          <p:cNvPr id="6" name="TextBox 5"/>
          <p:cNvSpPr txBox="1"/>
          <p:nvPr/>
        </p:nvSpPr>
        <p:spPr>
          <a:xfrm>
            <a:off x="685800" y="1188720"/>
            <a:ext cx="4206240" cy="3383280"/>
          </a:xfrm>
          <a:prstGeom prst="rect">
            <a:avLst/>
          </a:prstGeom>
          <a:noFill/>
        </p:spPr>
        <p:txBody>
          <a:bodyPr wrap="square" anchor="t" lIns="36576" rIns="36576" tIns="18288" bIns="18288">
            <a:spAutoFit/>
          </a:bodyPr>
          <a:lstStyle/>
          <a:p>
            <a:pPr algn="l">
              <a:spcAft>
                <a:spcPts val="300"/>
              </a:spcAft>
            </a:pPr>
            <a:r>
              <a:rPr sz="1100" b="1">
                <a:solidFill>
                  <a:srgbClr val="8A4B2A"/>
                </a:solidFill>
                <a:latin typeface="Calibri"/>
              </a:rPr>
              <a:t>WaitList  (I built the back end for this page)</a:t>
            </a:r>
          </a:p>
          <a:p>
            <a:pPr algn="l">
              <a:spcAft>
                <a:spcPts val="300"/>
              </a:spcAft>
            </a:pPr>
            <a:r>
              <a:rPr sz="1100" b="0">
                <a:solidFill>
                  <a:srgbClr val="0A6E8C"/>
                </a:solidFill>
                <a:latin typeface="Calibri"/>
              </a:rPr>
              <a:t>• </a:t>
            </a:r>
            <a:r>
              <a:rPr sz="1100" b="0">
                <a:solidFill>
                  <a:srgbClr val="16262E"/>
                </a:solidFill>
                <a:latin typeface="Calibri"/>
              </a:rPr>
              <a:t>One row per customer waiting on a slip size</a:t>
            </a:r>
          </a:p>
          <a:p>
            <a:pPr algn="l">
              <a:spcAft>
                <a:spcPts val="300"/>
              </a:spcAft>
            </a:pPr>
            <a:r>
              <a:rPr sz="1100" b="0">
                <a:solidFill>
                  <a:srgbClr val="0A6E8C"/>
                </a:solidFill>
                <a:latin typeface="Calibri"/>
              </a:rPr>
              <a:t>• </a:t>
            </a:r>
            <a:r>
              <a:rPr sz="1100" b="0">
                <a:solidFill>
                  <a:srgbClr val="16262E"/>
                </a:solidFill>
                <a:latin typeface="Calibri"/>
              </a:rPr>
              <a:t>Line order is just timeJoined: first come, first served</a:t>
            </a:r>
          </a:p>
          <a:p>
            <a:pPr algn="l">
              <a:spcAft>
                <a:spcPts val="300"/>
              </a:spcAft>
            </a:pPr>
            <a:r>
              <a:rPr sz="1100" b="0">
                <a:solidFill>
                  <a:srgbClr val="0A6E8C"/>
                </a:solidFill>
                <a:latin typeface="Calibri"/>
              </a:rPr>
              <a:t>• </a:t>
            </a:r>
            <a:r>
              <a:rPr sz="1100" b="0">
                <a:solidFill>
                  <a:srgbClr val="16262E"/>
                </a:solidFill>
                <a:latin typeface="Calibri"/>
              </a:rPr>
              <a:t>Status goes Waiting &gt; Offered &gt; Fulfilled, or Cancelled</a:t>
            </a:r>
          </a:p>
          <a:p>
            <a:pPr algn="l">
              <a:spcAft>
                <a:spcPts val="300"/>
              </a:spcAft>
            </a:pPr>
            <a:r>
              <a:rPr sz="1100" b="0">
                <a:solidFill>
                  <a:srgbClr val="0A6E8C"/>
                </a:solidFill>
                <a:latin typeface="Calibri"/>
              </a:rPr>
              <a:t>• </a:t>
            </a:r>
            <a:r>
              <a:rPr sz="1100" b="0">
                <a:solidFill>
                  <a:srgbClr val="16262E"/>
                </a:solidFill>
                <a:latin typeface="Calibri"/>
              </a:rPr>
              <a:t>Anyone can see how long the line is; signed-in users also see their own spot</a:t>
            </a:r>
          </a:p>
          <a:p>
            <a:pPr algn="l">
              <a:spcBef>
                <a:spcPts val="0"/>
              </a:spcBef>
            </a:pPr>
            <a:r>
              <a:rPr sz="400"/>
              <a:t> </a:t>
            </a:r>
          </a:p>
          <a:p>
            <a:pPr algn="l">
              <a:spcAft>
                <a:spcPts val="300"/>
              </a:spcAft>
            </a:pPr>
            <a:r>
              <a:rPr sz="1100" b="1">
                <a:solidFill>
                  <a:srgbClr val="8A4B2A"/>
                </a:solidFill>
                <a:latin typeface="Calibri"/>
              </a:rPr>
              <a:t>TerminationNotice</a:t>
            </a:r>
          </a:p>
          <a:p>
            <a:pPr algn="l">
              <a:spcAft>
                <a:spcPts val="300"/>
              </a:spcAft>
            </a:pPr>
            <a:r>
              <a:rPr sz="1100" b="0">
                <a:solidFill>
                  <a:srgbClr val="0A6E8C"/>
                </a:solidFill>
                <a:latin typeface="Calibri"/>
              </a:rPr>
              <a:t>• </a:t>
            </a:r>
            <a:r>
              <a:rPr sz="1100" b="0">
                <a:solidFill>
                  <a:srgbClr val="16262E"/>
                </a:solidFill>
                <a:latin typeface="Calibri"/>
              </a:rPr>
              <a:t>The 30-day notice a customer gives before leaving their slip</a:t>
            </a:r>
          </a:p>
          <a:p>
            <a:pPr algn="l">
              <a:spcAft>
                <a:spcPts val="300"/>
              </a:spcAft>
            </a:pPr>
            <a:r>
              <a:rPr sz="1100" b="0">
                <a:solidFill>
                  <a:srgbClr val="0A6E8C"/>
                </a:solidFill>
                <a:latin typeface="Calibri"/>
              </a:rPr>
              <a:t>• </a:t>
            </a:r>
            <a:r>
              <a:rPr sz="1100" b="0">
                <a:solidFill>
                  <a:srgbClr val="16262E"/>
                </a:solidFill>
                <a:latin typeface="Calibri"/>
              </a:rPr>
              <a:t>One per reservation, and it can be withdrawn</a:t>
            </a:r>
          </a:p>
          <a:p>
            <a:pPr algn="l">
              <a:spcAft>
                <a:spcPts val="300"/>
              </a:spcAft>
            </a:pPr>
            <a:r>
              <a:rPr sz="1100" b="0">
                <a:solidFill>
                  <a:srgbClr val="0A6E8C"/>
                </a:solidFill>
                <a:latin typeface="Calibri"/>
              </a:rPr>
              <a:t>• </a:t>
            </a:r>
            <a:r>
              <a:rPr sz="1100" b="0">
                <a:solidFill>
                  <a:srgbClr val="16262E"/>
                </a:solidFill>
                <a:latin typeface="Calibri"/>
              </a:rPr>
              <a:t>Status: Submitted, Pending, Approved, Withdrawn, Completed</a:t>
            </a:r>
          </a:p>
        </p:txBody>
      </p:sp>
      <p:sp>
        <p:nvSpPr>
          <p:cNvPr id="7" name="Rectangle 6"/>
          <p:cNvSpPr/>
          <p:nvPr/>
        </p:nvSpPr>
        <p:spPr>
          <a:xfrm>
            <a:off x="5029200" y="1234440"/>
            <a:ext cx="1371600" cy="219456"/>
          </a:xfrm>
          <a:prstGeom prst="rect">
            <a:avLst/>
          </a:prstGeom>
          <a:solidFill>
            <a:srgbClr val="FFFFFF"/>
          </a:solidFill>
          <a:ln w="12700">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0" y="1234440"/>
            <a:ext cx="1371600" cy="219456"/>
          </a:xfrm>
          <a:prstGeom prst="rect">
            <a:avLst/>
          </a:prstGeom>
          <a:solidFill>
            <a:srgbClr val="0A6E8C"/>
          </a:solidFill>
          <a:ln>
            <a:solidFill>
              <a:srgbClr val="0A6E8C"/>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Customer</a:t>
            </a:r>
          </a:p>
        </p:txBody>
      </p:sp>
      <p:sp>
        <p:nvSpPr>
          <p:cNvPr id="9" name="Rectangle 8"/>
          <p:cNvSpPr/>
          <p:nvPr/>
        </p:nvSpPr>
        <p:spPr>
          <a:xfrm>
            <a:off x="5029200" y="2103120"/>
            <a:ext cx="1371600" cy="58521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0" y="2103120"/>
            <a:ext cx="13716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WaitList</a:t>
            </a:r>
          </a:p>
        </p:txBody>
      </p:sp>
      <p:sp>
        <p:nvSpPr>
          <p:cNvPr id="11" name="TextBox 10"/>
          <p:cNvSpPr txBox="1"/>
          <p:nvPr/>
        </p:nvSpPr>
        <p:spPr>
          <a:xfrm>
            <a:off x="5029200" y="2322576"/>
            <a:ext cx="1371600" cy="365760"/>
          </a:xfrm>
          <a:prstGeom prst="rect">
            <a:avLst/>
          </a:prstGeom>
          <a:noFill/>
        </p:spPr>
        <p:txBody>
          <a:bodyPr wrap="square" lIns="54864" tIns="18288" bIns="0">
            <a:spAutoFit/>
          </a:bodyPr>
          <a:lstStyle/>
          <a:p>
            <a:r>
              <a:rPr sz="900">
                <a:solidFill>
                  <a:srgbClr val="16262E"/>
                </a:solidFill>
                <a:latin typeface="Calibri"/>
              </a:rPr>
              <a:t>timeJoined</a:t>
            </a:r>
          </a:p>
          <a:p>
            <a:r>
              <a:rPr sz="900">
                <a:solidFill>
                  <a:srgbClr val="16262E"/>
                </a:solidFill>
                <a:latin typeface="Calibri"/>
              </a:rPr>
              <a:t>status</a:t>
            </a:r>
          </a:p>
        </p:txBody>
      </p:sp>
      <p:sp>
        <p:nvSpPr>
          <p:cNvPr id="12" name="Rectangle 11"/>
          <p:cNvSpPr/>
          <p:nvPr/>
        </p:nvSpPr>
        <p:spPr>
          <a:xfrm>
            <a:off x="6903720" y="2103120"/>
            <a:ext cx="1325880" cy="219456"/>
          </a:xfrm>
          <a:prstGeom prst="rect">
            <a:avLst/>
          </a:prstGeom>
          <a:solidFill>
            <a:srgbClr val="FFFFFF"/>
          </a:solidFill>
          <a:ln w="12700">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03720" y="2103120"/>
            <a:ext cx="1325880" cy="219456"/>
          </a:xfrm>
          <a:prstGeom prst="rect">
            <a:avLst/>
          </a:prstGeom>
          <a:solidFill>
            <a:srgbClr val="8A4B2A"/>
          </a:solidFill>
          <a:ln>
            <a:solidFill>
              <a:srgbClr val="8A4B2A"/>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SlipSize</a:t>
            </a:r>
          </a:p>
        </p:txBody>
      </p:sp>
      <p:sp>
        <p:nvSpPr>
          <p:cNvPr id="14" name="Rectangle 13"/>
          <p:cNvSpPr/>
          <p:nvPr/>
        </p:nvSpPr>
        <p:spPr>
          <a:xfrm>
            <a:off x="5029200" y="3474720"/>
            <a:ext cx="1371600" cy="21945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0" y="3474720"/>
            <a:ext cx="137160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Reservation</a:t>
            </a:r>
          </a:p>
        </p:txBody>
      </p:sp>
      <p:sp>
        <p:nvSpPr>
          <p:cNvPr id="16" name="Rectangle 15"/>
          <p:cNvSpPr/>
          <p:nvPr/>
        </p:nvSpPr>
        <p:spPr>
          <a:xfrm>
            <a:off x="6766560" y="3474720"/>
            <a:ext cx="1554480" cy="585216"/>
          </a:xfrm>
          <a:prstGeom prst="rect">
            <a:avLst/>
          </a:prstGeom>
          <a:solidFill>
            <a:srgbClr val="FFFFFF"/>
          </a:solidFill>
          <a:ln w="12700">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474720"/>
            <a:ext cx="1554480" cy="219456"/>
          </a:xfrm>
          <a:prstGeom prst="rect">
            <a:avLst/>
          </a:prstGeom>
          <a:solidFill>
            <a:srgbClr val="0D3B4D"/>
          </a:solidFill>
          <a:ln>
            <a:solidFill>
              <a:srgbClr val="0D3B4D"/>
            </a:solidFill>
          </a:ln>
          <a:effectLst/>
        </p:spPr>
        <p:style>
          <a:lnRef idx="1">
            <a:schemeClr val="accent1"/>
          </a:lnRef>
          <a:fillRef idx="3">
            <a:schemeClr val="accent1"/>
          </a:fillRef>
          <a:effectRef idx="2">
            <a:schemeClr val="accent1"/>
          </a:effectRef>
          <a:fontRef idx="minor">
            <a:schemeClr val="lt1"/>
          </a:fontRef>
        </p:style>
        <p:txBody>
          <a:bodyPr rtlCol="0" anchor="ctr" tIns="0" bIns="0" lIns="54864"/>
          <a:lstStyle/>
          <a:p>
            <a:pPr algn="ctr"/>
            <a:r>
              <a:rPr sz="1100" b="1">
                <a:solidFill>
                  <a:srgbClr val="FFFFFF"/>
                </a:solidFill>
                <a:latin typeface="Calibri"/>
              </a:rPr>
              <a:t>TerminationNotice</a:t>
            </a:r>
          </a:p>
        </p:txBody>
      </p:sp>
      <p:sp>
        <p:nvSpPr>
          <p:cNvPr id="18" name="TextBox 17"/>
          <p:cNvSpPr txBox="1"/>
          <p:nvPr/>
        </p:nvSpPr>
        <p:spPr>
          <a:xfrm>
            <a:off x="6766560" y="3694176"/>
            <a:ext cx="1554480" cy="365760"/>
          </a:xfrm>
          <a:prstGeom prst="rect">
            <a:avLst/>
          </a:prstGeom>
          <a:noFill/>
        </p:spPr>
        <p:txBody>
          <a:bodyPr wrap="square" lIns="54864" tIns="18288" bIns="0">
            <a:spAutoFit/>
          </a:bodyPr>
          <a:lstStyle/>
          <a:p>
            <a:r>
              <a:rPr sz="900">
                <a:solidFill>
                  <a:srgbClr val="16262E"/>
                </a:solidFill>
                <a:latin typeface="Calibri"/>
              </a:rPr>
              <a:t>noticeDate</a:t>
            </a:r>
          </a:p>
          <a:p>
            <a:r>
              <a:rPr sz="900">
                <a:solidFill>
                  <a:srgbClr val="16262E"/>
                </a:solidFill>
                <a:latin typeface="Calibri"/>
              </a:rPr>
              <a:t>noticeStatus</a:t>
            </a:r>
          </a:p>
        </p:txBody>
      </p:sp>
      <p:cxnSp>
        <p:nvCxnSpPr>
          <p:cNvPr id="19" name="Connector 18"/>
          <p:cNvCxnSpPr/>
          <p:nvPr/>
        </p:nvCxnSpPr>
        <p:spPr>
          <a:xfrm>
            <a:off x="5715000" y="1453896"/>
            <a:ext cx="0" cy="649224"/>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51576" y="1508760"/>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1" name="TextBox 20"/>
          <p:cNvSpPr txBox="1"/>
          <p:nvPr/>
        </p:nvSpPr>
        <p:spPr>
          <a:xfrm>
            <a:off x="5751576" y="1901951"/>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2" name="Connector 21"/>
          <p:cNvCxnSpPr/>
          <p:nvPr/>
        </p:nvCxnSpPr>
        <p:spPr>
          <a:xfrm flipH="1">
            <a:off x="6400800" y="2212848"/>
            <a:ext cx="50292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93992" y="2029967"/>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4" name="TextBox 23"/>
          <p:cNvSpPr txBox="1"/>
          <p:nvPr/>
        </p:nvSpPr>
        <p:spPr>
          <a:xfrm>
            <a:off x="6428232" y="2029967"/>
            <a:ext cx="146304" cy="164592"/>
          </a:xfrm>
          <a:prstGeom prst="rect">
            <a:avLst/>
          </a:prstGeom>
          <a:noFill/>
        </p:spPr>
        <p:txBody>
          <a:bodyPr wrap="none" lIns="0" rIns="0" tIns="0" bIns="0">
            <a:spAutoFit/>
          </a:bodyPr>
          <a:lstStyle/>
          <a:p>
            <a:r>
              <a:rPr sz="900" b="1">
                <a:solidFill>
                  <a:srgbClr val="8A4B2A"/>
                </a:solidFill>
                <a:latin typeface="Calibri"/>
              </a:rPr>
              <a:t>N</a:t>
            </a:r>
          </a:p>
        </p:txBody>
      </p:sp>
      <p:cxnSp>
        <p:nvCxnSpPr>
          <p:cNvPr id="25" name="Connector 24"/>
          <p:cNvCxnSpPr/>
          <p:nvPr/>
        </p:nvCxnSpPr>
        <p:spPr>
          <a:xfrm>
            <a:off x="6400800" y="3584448"/>
            <a:ext cx="365760" cy="0"/>
          </a:xfrm>
          <a:prstGeom prst="line">
            <a:avLst/>
          </a:prstGeom>
          <a:ln w="15875">
            <a:solidFill>
              <a:srgbClr val="5B6B7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28232" y="3401568"/>
            <a:ext cx="146304" cy="164592"/>
          </a:xfrm>
          <a:prstGeom prst="rect">
            <a:avLst/>
          </a:prstGeom>
          <a:noFill/>
        </p:spPr>
        <p:txBody>
          <a:bodyPr wrap="none" lIns="0" rIns="0" tIns="0" bIns="0">
            <a:spAutoFit/>
          </a:bodyPr>
          <a:lstStyle/>
          <a:p>
            <a:r>
              <a:rPr sz="900" b="1">
                <a:solidFill>
                  <a:srgbClr val="8A4B2A"/>
                </a:solidFill>
                <a:latin typeface="Calibri"/>
              </a:rPr>
              <a:t>1</a:t>
            </a:r>
          </a:p>
        </p:txBody>
      </p:sp>
      <p:sp>
        <p:nvSpPr>
          <p:cNvPr id="27" name="TextBox 26"/>
          <p:cNvSpPr txBox="1"/>
          <p:nvPr/>
        </p:nvSpPr>
        <p:spPr>
          <a:xfrm>
            <a:off x="6656832" y="3401568"/>
            <a:ext cx="146304" cy="164592"/>
          </a:xfrm>
          <a:prstGeom prst="rect">
            <a:avLst/>
          </a:prstGeom>
          <a:noFill/>
        </p:spPr>
        <p:txBody>
          <a:bodyPr wrap="none" lIns="0" rIns="0" tIns="0" bIns="0">
            <a:spAutoFit/>
          </a:bodyPr>
          <a:lstStyle/>
          <a:p>
            <a:r>
              <a:rPr sz="900" b="1">
                <a:solidFill>
                  <a:srgbClr val="8A4B2A"/>
                </a:solidFill>
                <a:latin typeface="Calibri"/>
              </a:rPr>
              <a:t>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Supporting Tables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
        <p:nvSpPr>
          <p:cNvPr id="6" name="Rectangle 5"/>
          <p:cNvSpPr/>
          <p:nvPr/>
        </p:nvSpPr>
        <p:spPr>
          <a:xfrm>
            <a:off x="777240" y="1280160"/>
            <a:ext cx="3611880" cy="146304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280160"/>
            <a:ext cx="73152" cy="1463040"/>
          </a:xfrm>
          <a:prstGeom prst="rect">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417319"/>
            <a:ext cx="3291840" cy="32004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Contact</a:t>
            </a:r>
          </a:p>
        </p:txBody>
      </p:sp>
      <p:sp>
        <p:nvSpPr>
          <p:cNvPr id="9" name="TextBox 8"/>
          <p:cNvSpPr txBox="1"/>
          <p:nvPr/>
        </p:nvSpPr>
        <p:spPr>
          <a:xfrm>
            <a:off x="978408" y="1783080"/>
            <a:ext cx="3291840" cy="9144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Messages sent from the About Us form. Tracks if staff answered and which Employee did.</a:t>
            </a:r>
          </a:p>
        </p:txBody>
      </p:sp>
      <p:sp>
        <p:nvSpPr>
          <p:cNvPr id="10" name="Rectangle 9"/>
          <p:cNvSpPr/>
          <p:nvPr/>
        </p:nvSpPr>
        <p:spPr>
          <a:xfrm>
            <a:off x="4663440" y="1280160"/>
            <a:ext cx="3611880" cy="146304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1280160"/>
            <a:ext cx="73152" cy="1463040"/>
          </a:xfrm>
          <a:prstGeom prst="rect">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64607" y="1417319"/>
            <a:ext cx="3291840" cy="32004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Employee</a:t>
            </a:r>
          </a:p>
        </p:txBody>
      </p:sp>
      <p:sp>
        <p:nvSpPr>
          <p:cNvPr id="13" name="TextBox 12"/>
          <p:cNvSpPr txBox="1"/>
          <p:nvPr/>
        </p:nvSpPr>
        <p:spPr>
          <a:xfrm>
            <a:off x="4864607" y="1783080"/>
            <a:ext cx="3291840" cy="9144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Marina staff accounts. Right now it only links to Contact responses.</a:t>
            </a:r>
          </a:p>
        </p:txBody>
      </p:sp>
      <p:sp>
        <p:nvSpPr>
          <p:cNvPr id="14" name="Rectangle 13"/>
          <p:cNvSpPr/>
          <p:nvPr/>
        </p:nvSpPr>
        <p:spPr>
          <a:xfrm>
            <a:off x="777240" y="2971800"/>
            <a:ext cx="3611880" cy="146304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71800"/>
            <a:ext cx="73152" cy="1463040"/>
          </a:xfrm>
          <a:prstGeom prst="rect">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108960"/>
            <a:ext cx="3291840" cy="32004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Rate</a:t>
            </a:r>
          </a:p>
        </p:txBody>
      </p:sp>
      <p:sp>
        <p:nvSpPr>
          <p:cNvPr id="17" name="TextBox 16"/>
          <p:cNvSpPr txBox="1"/>
          <p:nvPr/>
        </p:nvSpPr>
        <p:spPr>
          <a:xfrm>
            <a:off x="978408" y="3474720"/>
            <a:ext cx="3291840" cy="9144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Prices live here, not in the code: $10.50 per foot a month for the slip, $10.50 flat for electric.</a:t>
            </a:r>
          </a:p>
        </p:txBody>
      </p:sp>
      <p:sp>
        <p:nvSpPr>
          <p:cNvPr id="18" name="Rectangle 17"/>
          <p:cNvSpPr/>
          <p:nvPr/>
        </p:nvSpPr>
        <p:spPr>
          <a:xfrm>
            <a:off x="4663440" y="2971800"/>
            <a:ext cx="3611880" cy="146304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2971800"/>
            <a:ext cx="73152" cy="1463040"/>
          </a:xfrm>
          <a:prstGeom prst="rect">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64607" y="3108960"/>
            <a:ext cx="3291840" cy="32004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DatabaseVersion</a:t>
            </a:r>
          </a:p>
        </p:txBody>
      </p:sp>
      <p:sp>
        <p:nvSpPr>
          <p:cNvPr id="21" name="TextBox 20"/>
          <p:cNvSpPr txBox="1"/>
          <p:nvPr/>
        </p:nvSpPr>
        <p:spPr>
          <a:xfrm>
            <a:off x="4864607" y="3474720"/>
            <a:ext cx="3291840" cy="9144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Every schema update adds a row. currentVersion.sql shows what version you're running.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Business Rules That Shaped the Schema</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
        <p:nvSpPr>
          <p:cNvPr id="6" name="Rectangle 5"/>
          <p:cNvSpPr/>
          <p:nvPr/>
        </p:nvSpPr>
        <p:spPr>
          <a:xfrm>
            <a:off x="731520" y="1280160"/>
            <a:ext cx="2377440" cy="310896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463039"/>
            <a:ext cx="411480" cy="41148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1</a:t>
            </a:r>
          </a:p>
        </p:txBody>
      </p:sp>
      <p:sp>
        <p:nvSpPr>
          <p:cNvPr id="8" name="TextBox 7"/>
          <p:cNvSpPr txBox="1"/>
          <p:nvPr/>
        </p:nvSpPr>
        <p:spPr>
          <a:xfrm>
            <a:off x="914400" y="201168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RULE</a:t>
            </a:r>
          </a:p>
        </p:txBody>
      </p:sp>
      <p:sp>
        <p:nvSpPr>
          <p:cNvPr id="9" name="TextBox 8"/>
          <p:cNvSpPr txBox="1"/>
          <p:nvPr/>
        </p:nvSpPr>
        <p:spPr>
          <a:xfrm>
            <a:off x="914400" y="2194560"/>
            <a:ext cx="2011680" cy="685800"/>
          </a:xfrm>
          <a:prstGeom prst="rect">
            <a:avLst/>
          </a:prstGeom>
          <a:noFill/>
        </p:spPr>
        <p:txBody>
          <a:bodyPr wrap="square" anchor="t" lIns="36576" rIns="36576" tIns="18288" bIns="18288">
            <a:spAutoFit/>
          </a:bodyPr>
          <a:lstStyle/>
          <a:p>
            <a:pPr algn="l">
              <a:spcAft>
                <a:spcPts val="300"/>
              </a:spcAft>
            </a:pPr>
            <a:r>
              <a:rPr sz="1300" b="1">
                <a:solidFill>
                  <a:srgbClr val="16262E"/>
                </a:solidFill>
                <a:latin typeface="Calibri"/>
              </a:rPr>
              <a:t>3 failed logins locks the account</a:t>
            </a:r>
          </a:p>
        </p:txBody>
      </p:sp>
      <p:sp>
        <p:nvSpPr>
          <p:cNvPr id="10" name="TextBox 9"/>
          <p:cNvSpPr txBox="1"/>
          <p:nvPr/>
        </p:nvSpPr>
        <p:spPr>
          <a:xfrm>
            <a:off x="914400" y="297180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WHAT WE DID</a:t>
            </a:r>
          </a:p>
        </p:txBody>
      </p:sp>
      <p:sp>
        <p:nvSpPr>
          <p:cNvPr id="11" name="TextBox 10"/>
          <p:cNvSpPr txBox="1"/>
          <p:nvPr/>
        </p:nvSpPr>
        <p:spPr>
          <a:xfrm>
            <a:off x="914400" y="3154679"/>
            <a:ext cx="2011680" cy="118872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Added failedLoginAttempts and accountLocked to Customer (v1.1.0). A password reset clears both.</a:t>
            </a:r>
          </a:p>
        </p:txBody>
      </p:sp>
      <p:sp>
        <p:nvSpPr>
          <p:cNvPr id="12" name="Rectangle 11"/>
          <p:cNvSpPr/>
          <p:nvPr/>
        </p:nvSpPr>
        <p:spPr>
          <a:xfrm>
            <a:off x="3291840" y="1280160"/>
            <a:ext cx="2377440" cy="310896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474720" y="1463039"/>
            <a:ext cx="411480" cy="41148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2</a:t>
            </a:r>
          </a:p>
        </p:txBody>
      </p:sp>
      <p:sp>
        <p:nvSpPr>
          <p:cNvPr id="14" name="TextBox 13"/>
          <p:cNvSpPr txBox="1"/>
          <p:nvPr/>
        </p:nvSpPr>
        <p:spPr>
          <a:xfrm>
            <a:off x="3474720" y="201168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RULE</a:t>
            </a:r>
          </a:p>
        </p:txBody>
      </p:sp>
      <p:sp>
        <p:nvSpPr>
          <p:cNvPr id="15" name="TextBox 14"/>
          <p:cNvSpPr txBox="1"/>
          <p:nvPr/>
        </p:nvSpPr>
        <p:spPr>
          <a:xfrm>
            <a:off x="3474720" y="2194560"/>
            <a:ext cx="2011680" cy="685800"/>
          </a:xfrm>
          <a:prstGeom prst="rect">
            <a:avLst/>
          </a:prstGeom>
          <a:noFill/>
        </p:spPr>
        <p:txBody>
          <a:bodyPr wrap="square" anchor="t" lIns="36576" rIns="36576" tIns="18288" bIns="18288">
            <a:spAutoFit/>
          </a:bodyPr>
          <a:lstStyle/>
          <a:p>
            <a:pPr algn="l">
              <a:spcAft>
                <a:spcPts val="300"/>
              </a:spcAft>
            </a:pPr>
            <a:r>
              <a:rPr sz="1300" b="1">
                <a:solidFill>
                  <a:srgbClr val="16262E"/>
                </a:solidFill>
                <a:latin typeface="Calibri"/>
              </a:rPr>
              <a:t>A boat has to fit its slip</a:t>
            </a:r>
          </a:p>
        </p:txBody>
      </p:sp>
      <p:sp>
        <p:nvSpPr>
          <p:cNvPr id="16" name="TextBox 15"/>
          <p:cNvSpPr txBox="1"/>
          <p:nvPr/>
        </p:nvSpPr>
        <p:spPr>
          <a:xfrm>
            <a:off x="3474720" y="297180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WHAT WE DID</a:t>
            </a:r>
          </a:p>
        </p:txBody>
      </p:sp>
      <p:sp>
        <p:nvSpPr>
          <p:cNvPr id="17" name="TextBox 16"/>
          <p:cNvSpPr txBox="1"/>
          <p:nvPr/>
        </p:nvSpPr>
        <p:spPr>
          <a:xfrm>
            <a:off x="3474720" y="3154679"/>
            <a:ext cx="2011680" cy="118872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boatLength is required on Boat, and SlipSize is its own table so both Slip and WaitList can use it.</a:t>
            </a:r>
          </a:p>
        </p:txBody>
      </p:sp>
      <p:sp>
        <p:nvSpPr>
          <p:cNvPr id="18" name="Rectangle 17"/>
          <p:cNvSpPr/>
          <p:nvPr/>
        </p:nvSpPr>
        <p:spPr>
          <a:xfrm>
            <a:off x="5852160" y="1280160"/>
            <a:ext cx="2377440" cy="3108960"/>
          </a:xfrm>
          <a:prstGeom prst="rect">
            <a:avLst/>
          </a:prstGeom>
          <a:solidFill>
            <a:srgbClr val="FFFFFF"/>
          </a:solidFill>
          <a:ln>
            <a:solidFill>
              <a:srgbClr val="D5C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35040" y="1463039"/>
            <a:ext cx="411480" cy="41148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rPr>
              <a:t>3</a:t>
            </a:r>
          </a:p>
        </p:txBody>
      </p:sp>
      <p:sp>
        <p:nvSpPr>
          <p:cNvPr id="20" name="TextBox 19"/>
          <p:cNvSpPr txBox="1"/>
          <p:nvPr/>
        </p:nvSpPr>
        <p:spPr>
          <a:xfrm>
            <a:off x="6035040" y="201168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RULE</a:t>
            </a:r>
          </a:p>
        </p:txBody>
      </p:sp>
      <p:sp>
        <p:nvSpPr>
          <p:cNvPr id="21" name="TextBox 20"/>
          <p:cNvSpPr txBox="1"/>
          <p:nvPr/>
        </p:nvSpPr>
        <p:spPr>
          <a:xfrm>
            <a:off x="6035040" y="2194560"/>
            <a:ext cx="2011680" cy="685800"/>
          </a:xfrm>
          <a:prstGeom prst="rect">
            <a:avLst/>
          </a:prstGeom>
          <a:noFill/>
        </p:spPr>
        <p:txBody>
          <a:bodyPr wrap="square" anchor="t" lIns="36576" rIns="36576" tIns="18288" bIns="18288">
            <a:spAutoFit/>
          </a:bodyPr>
          <a:lstStyle/>
          <a:p>
            <a:pPr algn="l">
              <a:spcAft>
                <a:spcPts val="300"/>
              </a:spcAft>
            </a:pPr>
            <a:r>
              <a:rPr sz="1300" b="1">
                <a:solidFill>
                  <a:srgbClr val="16262E"/>
                </a:solidFill>
                <a:latin typeface="Calibri"/>
              </a:rPr>
              <a:t>30 days notice to leave</a:t>
            </a:r>
          </a:p>
        </p:txBody>
      </p:sp>
      <p:sp>
        <p:nvSpPr>
          <p:cNvPr id="22" name="TextBox 21"/>
          <p:cNvSpPr txBox="1"/>
          <p:nvPr/>
        </p:nvSpPr>
        <p:spPr>
          <a:xfrm>
            <a:off x="6035040" y="2971800"/>
            <a:ext cx="2011680" cy="182880"/>
          </a:xfrm>
          <a:prstGeom prst="rect">
            <a:avLst/>
          </a:prstGeom>
          <a:noFill/>
        </p:spPr>
        <p:txBody>
          <a:bodyPr wrap="square" anchor="t" lIns="36576" rIns="36576" tIns="18288" bIns="18288">
            <a:spAutoFit/>
          </a:bodyPr>
          <a:lstStyle/>
          <a:p>
            <a:pPr algn="l">
              <a:spcAft>
                <a:spcPts val="300"/>
              </a:spcAft>
            </a:pPr>
            <a:r>
              <a:rPr sz="900" b="1">
                <a:solidFill>
                  <a:srgbClr val="8A4B2A"/>
                </a:solidFill>
                <a:latin typeface="Calibri"/>
              </a:rPr>
              <a:t>WHAT WE DID</a:t>
            </a:r>
          </a:p>
        </p:txBody>
      </p:sp>
      <p:sp>
        <p:nvSpPr>
          <p:cNvPr id="23" name="TextBox 22"/>
          <p:cNvSpPr txBox="1"/>
          <p:nvPr/>
        </p:nvSpPr>
        <p:spPr>
          <a:xfrm>
            <a:off x="6035040" y="3154679"/>
            <a:ext cx="2011680" cy="118872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Gave notices their own table, one per reservation, with a status so a notice can be withdrawn.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6E8C"/>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Testing and Results</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indent="0" marL="0">
              <a:buNone/>
            </a:pPr>
            <a:r>
              <a:rPr lang="en-US" sz="1500" dirty="0">
                <a:solidFill>
                  <a:srgbClr val="E8D9B0"/>
                </a:solidFill>
                <a:latin typeface="Calibri" pitchFamily="34" charset="0"/>
                <a:ea typeface="Calibri" pitchFamily="34" charset="-122"/>
                <a:cs typeface="Calibri" pitchFamily="34" charset="-120"/>
              </a:rPr>
              <a:t>Section 4  ·  Five tests and their results</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Section divider for the testing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How We Tested</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How the team planned, ran, and peer-checked its tests across the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Test 1: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Test 2: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Test 3: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Test 4: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Test 5: Page Name, What It Checks</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One test: the page it came from, what it checks, the steps in short form, the expected result, the actual result (Pass or Fail), and a screenshot.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What Testing Caught</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A test that failed at first: what went wrong and how it was fixed. Delete this slide if nothing failed.</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6E8C"/>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Lessons Learned</a:t>
            </a:r>
            <a:endParaRPr lang="en-US" sz="3600" dirty="0"/>
          </a:p>
        </p:txBody>
      </p:sp>
      <p:sp>
        <p:nvSpPr>
          <p:cNvPr id="3" name="Text 1"/>
          <p:cNvSpPr txBox="1"/>
          <p:nvPr/>
        </p:nvSpPr>
        <p:spPr>
          <a:xfrm>
            <a:off x="640080" y="2103120"/>
            <a:ext cx="7863840" cy="365760"/>
          </a:xfrm>
          <a:prstGeom prst="rect">
            <a:avLst/>
          </a:prstGeom>
          <a:noFill/>
          <a:ln/>
        </p:spPr>
        <p:txBody>
          <a:bodyPr wrap="square" lIns="0" tIns="0" rIns="0" bIns="0" rtlCol="0" anchor="ctr"/>
          <a:lstStyle/>
          <a:p>
            <a:pPr indent="0" marL="0">
              <a:buNone/>
            </a:pPr>
            <a:r>
              <a:rPr lang="en-US" sz="1500" dirty="0">
                <a:solidFill>
                  <a:srgbClr val="E8D9B0"/>
                </a:solidFill>
                <a:latin typeface="Calibri" pitchFamily="34" charset="0"/>
                <a:ea typeface="Calibri" pitchFamily="34" charset="-122"/>
                <a:cs typeface="Calibri" pitchFamily="34" charset="-120"/>
              </a:rPr>
              <a:t>Section 5  ·  What each of us learned</a:t>
            </a:r>
            <a:endParaRPr lang="en-US" sz="1500" dirty="0"/>
          </a:p>
        </p:txBody>
      </p:sp>
      <p:sp>
        <p:nvSpPr>
          <p:cNvPr id="4" name="Text 2"/>
          <p:cNvSpPr txBox="1"/>
          <p:nvPr/>
        </p:nvSpPr>
        <p:spPr>
          <a:xfrm>
            <a:off x="640080" y="3017520"/>
            <a:ext cx="7863840" cy="118872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Section divider for everyone’s Things I Learned slides.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Things I Learned: Robert Breutzmann</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Things I Learned: Miguel Fernandez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
        <p:nvSpPr>
          <p:cNvPr id="6" name="Oval 5"/>
          <p:cNvSpPr/>
          <p:nvPr/>
        </p:nvSpPr>
        <p:spPr>
          <a:xfrm>
            <a:off x="777240" y="1280160"/>
            <a:ext cx="457200" cy="45720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1</a:t>
            </a:r>
          </a:p>
        </p:txBody>
      </p:sp>
      <p:sp>
        <p:nvSpPr>
          <p:cNvPr id="7" name="TextBox 6"/>
          <p:cNvSpPr txBox="1"/>
          <p:nvPr/>
        </p:nvSpPr>
        <p:spPr>
          <a:xfrm>
            <a:off x="1463040" y="1234440"/>
            <a:ext cx="6766560" cy="27432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Agree on the contract first</a:t>
            </a:r>
          </a:p>
        </p:txBody>
      </p:sp>
      <p:sp>
        <p:nvSpPr>
          <p:cNvPr id="8" name="TextBox 7"/>
          <p:cNvSpPr txBox="1"/>
          <p:nvPr/>
        </p:nvSpPr>
        <p:spPr>
          <a:xfrm>
            <a:off x="1463040" y="1536192"/>
            <a:ext cx="6766560" cy="6858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Writing the page contract before coding meant I could build the back end of a page while someone else did the front end, without waiting on each other.</a:t>
            </a:r>
          </a:p>
        </p:txBody>
      </p:sp>
      <p:sp>
        <p:nvSpPr>
          <p:cNvPr id="9" name="Oval 8"/>
          <p:cNvSpPr/>
          <p:nvPr/>
        </p:nvSpPr>
        <p:spPr>
          <a:xfrm>
            <a:off x="777240" y="2377439"/>
            <a:ext cx="457200" cy="45720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2</a:t>
            </a:r>
          </a:p>
        </p:txBody>
      </p:sp>
      <p:sp>
        <p:nvSpPr>
          <p:cNvPr id="10" name="TextBox 9"/>
          <p:cNvSpPr txBox="1"/>
          <p:nvPr/>
        </p:nvSpPr>
        <p:spPr>
          <a:xfrm>
            <a:off x="1463040" y="2331720"/>
            <a:ext cx="6766560" cy="27432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How the back end fits together</a:t>
            </a:r>
          </a:p>
        </p:txBody>
      </p:sp>
      <p:sp>
        <p:nvSpPr>
          <p:cNvPr id="11" name="TextBox 10"/>
          <p:cNvSpPr txBox="1"/>
          <p:nvPr/>
        </p:nvSpPr>
        <p:spPr>
          <a:xfrm>
            <a:off x="1463040" y="2633472"/>
            <a:ext cx="6766560" cy="6858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Building the Wait List back end showed me how the servlet, the DAO and the SQL query connect, from a button click all the way to the database.</a:t>
            </a:r>
          </a:p>
        </p:txBody>
      </p:sp>
      <p:sp>
        <p:nvSpPr>
          <p:cNvPr id="12" name="Oval 11"/>
          <p:cNvSpPr/>
          <p:nvPr/>
        </p:nvSpPr>
        <p:spPr>
          <a:xfrm>
            <a:off x="777240" y="3474720"/>
            <a:ext cx="457200" cy="457200"/>
          </a:xfrm>
          <a:prstGeom prst="ellipse">
            <a:avLst/>
          </a:prstGeom>
          <a:solidFill>
            <a:srgbClr val="0A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rPr>
              <a:t>3</a:t>
            </a:r>
          </a:p>
        </p:txBody>
      </p:sp>
      <p:sp>
        <p:nvSpPr>
          <p:cNvPr id="13" name="TextBox 12"/>
          <p:cNvSpPr txBox="1"/>
          <p:nvPr/>
        </p:nvSpPr>
        <p:spPr>
          <a:xfrm>
            <a:off x="1463040" y="3429000"/>
            <a:ext cx="6766560" cy="274320"/>
          </a:xfrm>
          <a:prstGeom prst="rect">
            <a:avLst/>
          </a:prstGeom>
          <a:noFill/>
        </p:spPr>
        <p:txBody>
          <a:bodyPr wrap="square" anchor="t" lIns="36576" rIns="36576" tIns="18288" bIns="18288">
            <a:spAutoFit/>
          </a:bodyPr>
          <a:lstStyle/>
          <a:p>
            <a:pPr algn="l">
              <a:spcAft>
                <a:spcPts val="300"/>
              </a:spcAft>
            </a:pPr>
            <a:r>
              <a:rPr sz="1400" b="1">
                <a:solidFill>
                  <a:srgbClr val="16262E"/>
                </a:solidFill>
                <a:latin typeface="Calibri"/>
              </a:rPr>
              <a:t>Track every database change</a:t>
            </a:r>
          </a:p>
        </p:txBody>
      </p:sp>
      <p:sp>
        <p:nvSpPr>
          <p:cNvPr id="14" name="TextBox 13"/>
          <p:cNvSpPr txBox="1"/>
          <p:nvPr/>
        </p:nvSpPr>
        <p:spPr>
          <a:xfrm>
            <a:off x="1463040" y="3730752"/>
            <a:ext cx="6766560" cy="685800"/>
          </a:xfrm>
          <a:prstGeom prst="rect">
            <a:avLst/>
          </a:prstGeom>
          <a:noFill/>
        </p:spPr>
        <p:txBody>
          <a:bodyPr wrap="square" anchor="t" lIns="36576" rIns="36576" tIns="18288" bIns="18288">
            <a:spAutoFit/>
          </a:bodyPr>
          <a:lstStyle/>
          <a:p>
            <a:pPr algn="l">
              <a:spcAft>
                <a:spcPts val="300"/>
              </a:spcAft>
            </a:pPr>
            <a:r>
              <a:rPr sz="1100" b="0">
                <a:solidFill>
                  <a:srgbClr val="16262E"/>
                </a:solidFill>
                <a:latin typeface="Calibri"/>
              </a:rPr>
              <a:t>Numbered update scripts plus the DatabaseVersion table saved us a lot of "it works on my machine" confusion.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Things I Learned: Carolina Rodriguez</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Carolina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D9B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600" dirty="0">
                <a:solidFill>
                  <a:srgbClr val="16262E"/>
                </a:solidFill>
                <a:latin typeface="Cambria" pitchFamily="34" charset="0"/>
                <a:ea typeface="Cambria" pitchFamily="34" charset="-122"/>
                <a:cs typeface="Cambria" pitchFamily="34" charset="-120"/>
              </a:rPr>
              <a:t>Things I Learned: Sara White</a:t>
            </a:r>
            <a:endParaRPr lang="en-US" sz="2600" dirty="0"/>
          </a:p>
        </p:txBody>
      </p:sp>
      <p:sp>
        <p:nvSpPr>
          <p:cNvPr id="3" name="Shape 1"/>
          <p:cNvSpPr/>
          <p:nvPr/>
        </p:nvSpPr>
        <p:spPr>
          <a:xfrm>
            <a:off x="457200" y="1051560"/>
            <a:ext cx="8229600" cy="3611880"/>
          </a:xfrm>
          <a:prstGeom prst="roundRect">
            <a:avLst>
              <a:gd name="adj" fmla="val 2025"/>
            </a:avLst>
          </a:prstGeom>
          <a:solidFill>
            <a:srgbClr val="F4F7F8"/>
          </a:solidFill>
          <a:ln w="9525">
            <a:solidFill>
              <a:srgbClr val="D5CBA8"/>
            </a:solidFill>
            <a:prstDash val="solid"/>
          </a:ln>
        </p:spPr>
      </p:sp>
      <p:sp>
        <p:nvSpPr>
          <p:cNvPr id="4" name="Text 2"/>
          <p:cNvSpPr txBox="1"/>
          <p:nvPr/>
        </p:nvSpPr>
        <p:spPr>
          <a:xfrm>
            <a:off x="731520" y="1280160"/>
            <a:ext cx="7680960" cy="3200400"/>
          </a:xfrm>
          <a:prstGeom prst="rect">
            <a:avLst/>
          </a:prstGeom>
          <a:noFill/>
          <a:ln/>
        </p:spPr>
        <p:txBody>
          <a:bodyPr wrap="square" lIns="0" tIns="0" rIns="0" bIns="0" rtlCol="0" anchor="t"/>
          <a:lstStyle/>
          <a:p>
            <a:pPr indent="0" marL="0">
              <a:buNone/>
            </a:pPr>
            <a:r>
              <a:rPr lang="en-US" sz="1300" b="1" dirty="0">
                <a:solidFill>
                  <a:srgbClr val="8A4B2A"/>
                </a:solidFill>
                <a:latin typeface="Calibri" pitchFamily="34" charset="0"/>
                <a:ea typeface="Calibri" pitchFamily="34" charset="-122"/>
                <a:cs typeface="Calibri" pitchFamily="34" charset="-120"/>
              </a:rPr>
              <a:t>Slide owner: Sara</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6262E"/>
                </a:solidFill>
                <a:latin typeface="Calibri" pitchFamily="34" charset="0"/>
                <a:ea typeface="Calibri" pitchFamily="34" charset="-122"/>
                <a:cs typeface="Calibri" pitchFamily="34" charset="-120"/>
              </a:rPr>
              <a:t>Two or three things you learned on this project.</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3B4D"/>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indent="0" marL="0">
              <a:buNone/>
            </a:pPr>
            <a:r>
              <a:rPr lang="en-US" sz="4000" dirty="0">
                <a:solidFill>
                  <a:srgbClr val="E8D9B0"/>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640080" y="2011680"/>
            <a:ext cx="786384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Questions?</a:t>
            </a:r>
            <a:endParaRPr lang="en-US" sz="1600" dirty="0"/>
          </a:p>
        </p:txBody>
      </p:sp>
      <p:sp>
        <p:nvSpPr>
          <p:cNvPr id="4" name="Text 2"/>
          <p:cNvSpPr txBox="1"/>
          <p:nvPr/>
        </p:nvSpPr>
        <p:spPr>
          <a:xfrm>
            <a:off x="640080" y="3108960"/>
            <a:ext cx="7863840" cy="1280160"/>
          </a:xfrm>
          <a:prstGeom prst="rect">
            <a:avLst/>
          </a:prstGeom>
          <a:noFill/>
          <a:ln/>
        </p:spPr>
        <p:txBody>
          <a:bodyPr wrap="square" lIns="0" tIns="0" rIns="0" bIns="0" rtlCol="0" anchor="t"/>
          <a:lstStyle/>
          <a:p>
            <a:pPr indent="0" marL="0">
              <a:buNone/>
            </a:pPr>
            <a:r>
              <a:rPr lang="en-US" sz="1300" b="1" dirty="0">
                <a:solidFill>
                  <a:srgbClr val="F4A261"/>
                </a:solidFill>
                <a:latin typeface="Calibri" pitchFamily="34" charset="0"/>
                <a:ea typeface="Calibri" pitchFamily="34" charset="-122"/>
                <a:cs typeface="Calibri" pitchFamily="34" charset="-120"/>
              </a:rPr>
              <a:t>Slide owner: Robert</a:t>
            </a:r>
            <a:endParaRPr lang="en-US" sz="13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Closing slide: thank the audience and invite questions.</a:t>
            </a:r>
            <a:endParaRPr lang="en-US" sz="1300" dirty="0"/>
          </a:p>
        </p:txBody>
      </p:sp>
      <p:sp>
        <p:nvSpPr>
          <p:cNvPr id="5" name="Text 3"/>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CADCE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Moffat Bay Marina QA Presentation</dc:title>
  <dc:subject>PptxGenJS Presentation</dc:subject>
  <dc:creator>PptxGenJS</dc:creator>
  <cp:lastModifiedBy>PptxGenJS</cp:lastModifiedBy>
  <cp:revision>1</cp:revision>
  <dcterms:created xsi:type="dcterms:W3CDTF">2026-09-28T14:44:11Z</dcterms:created>
  <dcterms:modified xsi:type="dcterms:W3CDTF">2026-09-28T14:44:11Z</dcterms:modified>
</cp:coreProperties>
</file>